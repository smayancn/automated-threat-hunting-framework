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handoutMasterIdLst>
    <p:handoutMasterId r:id="rId20"/>
  </p:handoutMasterIdLst>
  <p:sldIdLst>
    <p:sldId id="256" r:id="rId2"/>
    <p:sldId id="324" r:id="rId3"/>
    <p:sldId id="325" r:id="rId4"/>
    <p:sldId id="326" r:id="rId5"/>
    <p:sldId id="327" r:id="rId6"/>
    <p:sldId id="334" r:id="rId7"/>
    <p:sldId id="328" r:id="rId8"/>
    <p:sldId id="329" r:id="rId9"/>
    <p:sldId id="331" r:id="rId10"/>
    <p:sldId id="332" r:id="rId11"/>
    <p:sldId id="337" r:id="rId12"/>
    <p:sldId id="339" r:id="rId13"/>
    <p:sldId id="333" r:id="rId14"/>
    <p:sldId id="336" r:id="rId15"/>
    <p:sldId id="335" r:id="rId16"/>
    <p:sldId id="338" r:id="rId17"/>
    <p:sldId id="33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5" autoAdjust="0"/>
    <p:restoredTop sz="94660"/>
  </p:normalViewPr>
  <p:slideViewPr>
    <p:cSldViewPr snapToGrid="0">
      <p:cViewPr varScale="1">
        <p:scale>
          <a:sx n="67" d="100"/>
          <a:sy n="67" d="100"/>
        </p:scale>
        <p:origin x="604" y="56"/>
      </p:cViewPr>
      <p:guideLst/>
    </p:cSldViewPr>
  </p:slideViewPr>
  <p:notesTextViewPr>
    <p:cViewPr>
      <p:scale>
        <a:sx n="1" d="1"/>
        <a:sy n="1" d="1"/>
      </p:scale>
      <p:origin x="0" y="0"/>
    </p:cViewPr>
  </p:notesTextViewPr>
  <p:notesViewPr>
    <p:cSldViewPr snapToGrid="0">
      <p:cViewPr varScale="1">
        <p:scale>
          <a:sx n="56" d="100"/>
          <a:sy n="56" d="100"/>
        </p:scale>
        <p:origin x="2586"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DBD5F23-FB8F-4BF1-BEA3-76856FE7038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BCECE491-F024-4374-B49A-F7D04E478BB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84C3A2-F8C6-427B-B023-F7BFBC564980}" type="datetimeFigureOut">
              <a:rPr lang="en-IN" smtClean="0"/>
              <a:t>24-11-2025</a:t>
            </a:fld>
            <a:endParaRPr lang="en-IN"/>
          </a:p>
        </p:txBody>
      </p:sp>
      <p:sp>
        <p:nvSpPr>
          <p:cNvPr id="4" name="Footer Placeholder 3">
            <a:extLst>
              <a:ext uri="{FF2B5EF4-FFF2-40B4-BE49-F238E27FC236}">
                <a16:creationId xmlns:a16="http://schemas.microsoft.com/office/drawing/2014/main" id="{5B1C5472-AED4-46E5-AA46-9091B2280D0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F68D9E94-5C72-438E-AAAC-7DC99FFA8D4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158B9D-E03F-4740-9EB0-89EFA872E8EC}" type="slidenum">
              <a:rPr lang="en-IN" smtClean="0"/>
              <a:t>‹#›</a:t>
            </a:fld>
            <a:endParaRPr lang="en-IN"/>
          </a:p>
        </p:txBody>
      </p:sp>
    </p:spTree>
    <p:extLst>
      <p:ext uri="{BB962C8B-B14F-4D97-AF65-F5344CB8AC3E}">
        <p14:creationId xmlns:p14="http://schemas.microsoft.com/office/powerpoint/2010/main" val="22142113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75696E-51F7-4A5D-9C1A-0B0BBD016B2E}" type="datetimeFigureOut">
              <a:rPr lang="en-IN" smtClean="0"/>
              <a:t>24-11-2025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EBBCA1-5DCB-4F2F-A4A8-3E6EA442D374}" type="slidenum">
              <a:rPr lang="en-IN" smtClean="0"/>
              <a:t>‹#›</a:t>
            </a:fld>
            <a:endParaRPr lang="en-IN"/>
          </a:p>
        </p:txBody>
      </p:sp>
    </p:spTree>
    <p:extLst>
      <p:ext uri="{BB962C8B-B14F-4D97-AF65-F5344CB8AC3E}">
        <p14:creationId xmlns:p14="http://schemas.microsoft.com/office/powerpoint/2010/main" val="2691752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B8932-1AF3-4BD6-9048-724C56D9AB2D}"/>
              </a:ext>
            </a:extLst>
          </p:cNvPr>
          <p:cNvSpPr>
            <a:spLocks noGrp="1"/>
          </p:cNvSpPr>
          <p:nvPr>
            <p:ph type="ctrTitle"/>
          </p:nvPr>
        </p:nvSpPr>
        <p:spPr>
          <a:xfrm>
            <a:off x="2193702" y="1276910"/>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60CD466-95D6-4011-90EB-D5F77E0F5235}"/>
              </a:ext>
            </a:extLst>
          </p:cNvPr>
          <p:cNvSpPr>
            <a:spLocks noGrp="1"/>
          </p:cNvSpPr>
          <p:nvPr>
            <p:ph type="subTitle" idx="1"/>
          </p:nvPr>
        </p:nvSpPr>
        <p:spPr>
          <a:xfrm>
            <a:off x="2193702" y="375658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4FA8BE6-8675-4630-9A1C-AAD208F5F280}"/>
              </a:ext>
            </a:extLst>
          </p:cNvPr>
          <p:cNvSpPr>
            <a:spLocks noGrp="1"/>
          </p:cNvSpPr>
          <p:nvPr>
            <p:ph type="dt" sz="half" idx="10"/>
          </p:nvPr>
        </p:nvSpPr>
        <p:spPr/>
        <p:txBody>
          <a:bodyPr/>
          <a:lstStyle/>
          <a:p>
            <a:fld id="{E53D2081-CF83-49EF-B707-A4E1103EE9DC}" type="datetime1">
              <a:rPr lang="en-IN" smtClean="0"/>
              <a:t>24-11-2025</a:t>
            </a:fld>
            <a:endParaRPr lang="en-IN"/>
          </a:p>
        </p:txBody>
      </p:sp>
      <p:sp>
        <p:nvSpPr>
          <p:cNvPr id="5" name="Footer Placeholder 4">
            <a:extLst>
              <a:ext uri="{FF2B5EF4-FFF2-40B4-BE49-F238E27FC236}">
                <a16:creationId xmlns:a16="http://schemas.microsoft.com/office/drawing/2014/main" id="{90E40BEF-66C1-4E50-B1A3-DB3C38A8B051}"/>
              </a:ext>
            </a:extLst>
          </p:cNvPr>
          <p:cNvSpPr>
            <a:spLocks noGrp="1"/>
          </p:cNvSpPr>
          <p:nvPr>
            <p:ph type="ftr" sz="quarter" idx="11"/>
          </p:nvPr>
        </p:nvSpPr>
        <p:spPr/>
        <p:txBody>
          <a:bodyPr/>
          <a:lstStyle/>
          <a:p>
            <a:r>
              <a:rPr lang="en-US"/>
              <a:t>Dept. of CSE (Cyber Security) – Major Project Presentation</a:t>
            </a:r>
            <a:endParaRPr lang="en-IN"/>
          </a:p>
        </p:txBody>
      </p:sp>
      <p:sp>
        <p:nvSpPr>
          <p:cNvPr id="6" name="Slide Number Placeholder 5">
            <a:extLst>
              <a:ext uri="{FF2B5EF4-FFF2-40B4-BE49-F238E27FC236}">
                <a16:creationId xmlns:a16="http://schemas.microsoft.com/office/drawing/2014/main" id="{AB7B99A8-A4EC-4A64-BAC3-2E612D7EB370}"/>
              </a:ext>
            </a:extLst>
          </p:cNvPr>
          <p:cNvSpPr>
            <a:spLocks noGrp="1"/>
          </p:cNvSpPr>
          <p:nvPr>
            <p:ph type="sldNum" sz="quarter" idx="12"/>
          </p:nvPr>
        </p:nvSpPr>
        <p:spPr/>
        <p:txBody>
          <a:bodyPr/>
          <a:lstStyle/>
          <a:p>
            <a:fld id="{F4127232-B881-49D7-80AC-901D3A0353F5}" type="slidenum">
              <a:rPr lang="en-IN" smtClean="0"/>
              <a:t>‹#›</a:t>
            </a:fld>
            <a:endParaRPr lang="en-IN"/>
          </a:p>
        </p:txBody>
      </p:sp>
      <p:sp>
        <p:nvSpPr>
          <p:cNvPr id="7" name="TextBox 6">
            <a:extLst>
              <a:ext uri="{FF2B5EF4-FFF2-40B4-BE49-F238E27FC236}">
                <a16:creationId xmlns:a16="http://schemas.microsoft.com/office/drawing/2014/main" id="{77AAE736-7956-4D6A-B9DF-08F70B451687}"/>
              </a:ext>
            </a:extLst>
          </p:cNvPr>
          <p:cNvSpPr txBox="1"/>
          <p:nvPr userDrawn="1"/>
        </p:nvSpPr>
        <p:spPr>
          <a:xfrm>
            <a:off x="3579677" y="0"/>
            <a:ext cx="6298419" cy="1169551"/>
          </a:xfrm>
          <a:prstGeom prst="rect">
            <a:avLst/>
          </a:prstGeom>
          <a:noFill/>
        </p:spPr>
        <p:txBody>
          <a:bodyPr wrap="square" rtlCol="0">
            <a:spAutoFit/>
          </a:bodyPr>
          <a:lstStyle/>
          <a:p>
            <a:pPr algn="ctr"/>
            <a:r>
              <a:rPr lang="en-US" sz="1400" b="1" dirty="0">
                <a:solidFill>
                  <a:srgbClr val="002060"/>
                </a:solidFill>
              </a:rPr>
              <a:t>RNS Trust ®</a:t>
            </a:r>
          </a:p>
          <a:p>
            <a:pPr algn="ctr"/>
            <a:r>
              <a:rPr lang="en-US" sz="3200" b="1" dirty="0">
                <a:solidFill>
                  <a:srgbClr val="002060"/>
                </a:solidFill>
              </a:rPr>
              <a:t>RNS Institute of Technology</a:t>
            </a:r>
          </a:p>
          <a:p>
            <a:pPr algn="ctr"/>
            <a:r>
              <a:rPr lang="en-US" sz="1200" b="1" dirty="0">
                <a:solidFill>
                  <a:srgbClr val="002060"/>
                </a:solidFill>
              </a:rPr>
              <a:t>Autonomous Institute of Technology Affiliated to VTU</a:t>
            </a:r>
          </a:p>
          <a:p>
            <a:pPr algn="ctr"/>
            <a:r>
              <a:rPr lang="en-US" sz="1200" b="1" dirty="0">
                <a:solidFill>
                  <a:srgbClr val="002060"/>
                </a:solidFill>
              </a:rPr>
              <a:t>Accredited with NAAC A+ Grade</a:t>
            </a:r>
            <a:endParaRPr lang="en-IN" sz="1200" b="1" dirty="0">
              <a:solidFill>
                <a:srgbClr val="002060"/>
              </a:solidFill>
            </a:endParaRPr>
          </a:p>
        </p:txBody>
      </p:sp>
    </p:spTree>
    <p:extLst>
      <p:ext uri="{BB962C8B-B14F-4D97-AF65-F5344CB8AC3E}">
        <p14:creationId xmlns:p14="http://schemas.microsoft.com/office/powerpoint/2010/main" val="2909304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88304-C740-4BF9-AD08-B9249F8398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F9DE6A-94FC-4437-A6A5-2FCCBDFC79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D9D640-F23C-4F21-8922-F3CB4CD238E4}"/>
              </a:ext>
            </a:extLst>
          </p:cNvPr>
          <p:cNvSpPr>
            <a:spLocks noGrp="1"/>
          </p:cNvSpPr>
          <p:nvPr>
            <p:ph type="dt" sz="half" idx="10"/>
          </p:nvPr>
        </p:nvSpPr>
        <p:spPr/>
        <p:txBody>
          <a:bodyPr/>
          <a:lstStyle/>
          <a:p>
            <a:fld id="{A4F96059-CB88-454C-9613-F70D3DEB29E8}" type="datetime1">
              <a:rPr lang="en-IN" smtClean="0"/>
              <a:t>24-11-2025</a:t>
            </a:fld>
            <a:endParaRPr lang="en-IN"/>
          </a:p>
        </p:txBody>
      </p:sp>
      <p:sp>
        <p:nvSpPr>
          <p:cNvPr id="5" name="Footer Placeholder 4">
            <a:extLst>
              <a:ext uri="{FF2B5EF4-FFF2-40B4-BE49-F238E27FC236}">
                <a16:creationId xmlns:a16="http://schemas.microsoft.com/office/drawing/2014/main" id="{0C3A9D80-7DE7-4D87-880B-8295EA23D689}"/>
              </a:ext>
            </a:extLst>
          </p:cNvPr>
          <p:cNvSpPr>
            <a:spLocks noGrp="1"/>
          </p:cNvSpPr>
          <p:nvPr>
            <p:ph type="ftr" sz="quarter" idx="11"/>
          </p:nvPr>
        </p:nvSpPr>
        <p:spPr/>
        <p:txBody>
          <a:bodyPr/>
          <a:lstStyle/>
          <a:p>
            <a:r>
              <a:rPr lang="en-US"/>
              <a:t>Dept. of CSE (Cyber Security) – Major Project Presentation</a:t>
            </a:r>
            <a:endParaRPr lang="en-IN" dirty="0"/>
          </a:p>
        </p:txBody>
      </p:sp>
      <p:sp>
        <p:nvSpPr>
          <p:cNvPr id="6" name="Slide Number Placeholder 5">
            <a:extLst>
              <a:ext uri="{FF2B5EF4-FFF2-40B4-BE49-F238E27FC236}">
                <a16:creationId xmlns:a16="http://schemas.microsoft.com/office/drawing/2014/main" id="{F52CD2E1-16A1-49B4-AC68-F8D67C2380C8}"/>
              </a:ext>
            </a:extLst>
          </p:cNvPr>
          <p:cNvSpPr>
            <a:spLocks noGrp="1"/>
          </p:cNvSpPr>
          <p:nvPr>
            <p:ph type="sldNum" sz="quarter" idx="12"/>
          </p:nvPr>
        </p:nvSpPr>
        <p:spPr/>
        <p:txBody>
          <a:bodyPr/>
          <a:lstStyle/>
          <a:p>
            <a:fld id="{F4127232-B881-49D7-80AC-901D3A0353F5}" type="slidenum">
              <a:rPr lang="en-IN" smtClean="0"/>
              <a:t>‹#›</a:t>
            </a:fld>
            <a:endParaRPr lang="en-IN"/>
          </a:p>
        </p:txBody>
      </p:sp>
    </p:spTree>
    <p:extLst>
      <p:ext uri="{BB962C8B-B14F-4D97-AF65-F5344CB8AC3E}">
        <p14:creationId xmlns:p14="http://schemas.microsoft.com/office/powerpoint/2010/main" val="2497572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F4274-7484-4F1F-AD0B-9F87F6F54C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A83B8A-D3B2-4019-ABC0-FDBDD73755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C0A604-A21F-4CF3-8200-FBDC4830501C}"/>
              </a:ext>
            </a:extLst>
          </p:cNvPr>
          <p:cNvSpPr>
            <a:spLocks noGrp="1"/>
          </p:cNvSpPr>
          <p:nvPr>
            <p:ph type="dt" sz="half" idx="10"/>
          </p:nvPr>
        </p:nvSpPr>
        <p:spPr/>
        <p:txBody>
          <a:bodyPr/>
          <a:lstStyle/>
          <a:p>
            <a:fld id="{693495CB-E524-44A6-9A15-F6B049D1C262}" type="datetime1">
              <a:rPr lang="en-IN" smtClean="0"/>
              <a:t>24-11-2025</a:t>
            </a:fld>
            <a:endParaRPr lang="en-IN"/>
          </a:p>
        </p:txBody>
      </p:sp>
      <p:sp>
        <p:nvSpPr>
          <p:cNvPr id="5" name="Footer Placeholder 4">
            <a:extLst>
              <a:ext uri="{FF2B5EF4-FFF2-40B4-BE49-F238E27FC236}">
                <a16:creationId xmlns:a16="http://schemas.microsoft.com/office/drawing/2014/main" id="{9577A117-A1EE-41D1-90D5-2A097655B77F}"/>
              </a:ext>
            </a:extLst>
          </p:cNvPr>
          <p:cNvSpPr>
            <a:spLocks noGrp="1"/>
          </p:cNvSpPr>
          <p:nvPr>
            <p:ph type="ftr" sz="quarter" idx="11"/>
          </p:nvPr>
        </p:nvSpPr>
        <p:spPr/>
        <p:txBody>
          <a:bodyPr/>
          <a:lstStyle/>
          <a:p>
            <a:r>
              <a:rPr lang="en-US"/>
              <a:t>Dept. of CSE (Cyber Security) – Major Project Presentation</a:t>
            </a:r>
            <a:endParaRPr lang="en-IN"/>
          </a:p>
        </p:txBody>
      </p:sp>
      <p:sp>
        <p:nvSpPr>
          <p:cNvPr id="6" name="Slide Number Placeholder 5">
            <a:extLst>
              <a:ext uri="{FF2B5EF4-FFF2-40B4-BE49-F238E27FC236}">
                <a16:creationId xmlns:a16="http://schemas.microsoft.com/office/drawing/2014/main" id="{2331FDD3-E7F1-47DB-A8AF-5FA1A5C9512B}"/>
              </a:ext>
            </a:extLst>
          </p:cNvPr>
          <p:cNvSpPr>
            <a:spLocks noGrp="1"/>
          </p:cNvSpPr>
          <p:nvPr>
            <p:ph type="sldNum" sz="quarter" idx="12"/>
          </p:nvPr>
        </p:nvSpPr>
        <p:spPr/>
        <p:txBody>
          <a:bodyPr/>
          <a:lstStyle/>
          <a:p>
            <a:fld id="{F4127232-B881-49D7-80AC-901D3A0353F5}" type="slidenum">
              <a:rPr lang="en-IN" smtClean="0"/>
              <a:t>‹#›</a:t>
            </a:fld>
            <a:endParaRPr lang="en-IN"/>
          </a:p>
        </p:txBody>
      </p:sp>
    </p:spTree>
    <p:extLst>
      <p:ext uri="{BB962C8B-B14F-4D97-AF65-F5344CB8AC3E}">
        <p14:creationId xmlns:p14="http://schemas.microsoft.com/office/powerpoint/2010/main" val="2624407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700B7-9824-4C80-BCF7-FB261D7425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C6A50F-7534-43FE-A99F-3380D978E3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F166A6A-96A0-44D2-A1C2-66E8A95FCF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6B81DCB-DC64-4435-BA49-462A6062F725}"/>
              </a:ext>
            </a:extLst>
          </p:cNvPr>
          <p:cNvSpPr>
            <a:spLocks noGrp="1"/>
          </p:cNvSpPr>
          <p:nvPr>
            <p:ph type="dt" sz="half" idx="10"/>
          </p:nvPr>
        </p:nvSpPr>
        <p:spPr/>
        <p:txBody>
          <a:bodyPr/>
          <a:lstStyle/>
          <a:p>
            <a:fld id="{FC94FBFE-9714-46AE-B281-ED7A3EB75C70}" type="datetime1">
              <a:rPr lang="en-IN" smtClean="0"/>
              <a:t>24-11-2025</a:t>
            </a:fld>
            <a:endParaRPr lang="en-IN"/>
          </a:p>
        </p:txBody>
      </p:sp>
      <p:sp>
        <p:nvSpPr>
          <p:cNvPr id="6" name="Footer Placeholder 5">
            <a:extLst>
              <a:ext uri="{FF2B5EF4-FFF2-40B4-BE49-F238E27FC236}">
                <a16:creationId xmlns:a16="http://schemas.microsoft.com/office/drawing/2014/main" id="{12ED95A8-0822-4361-8092-A0F0D84E9603}"/>
              </a:ext>
            </a:extLst>
          </p:cNvPr>
          <p:cNvSpPr>
            <a:spLocks noGrp="1"/>
          </p:cNvSpPr>
          <p:nvPr>
            <p:ph type="ftr" sz="quarter" idx="11"/>
          </p:nvPr>
        </p:nvSpPr>
        <p:spPr/>
        <p:txBody>
          <a:bodyPr/>
          <a:lstStyle/>
          <a:p>
            <a:r>
              <a:rPr lang="en-US"/>
              <a:t>Dept. of CSE (Cyber Security) – Major Project Presentation</a:t>
            </a:r>
            <a:endParaRPr lang="en-IN"/>
          </a:p>
        </p:txBody>
      </p:sp>
      <p:sp>
        <p:nvSpPr>
          <p:cNvPr id="7" name="Slide Number Placeholder 6">
            <a:extLst>
              <a:ext uri="{FF2B5EF4-FFF2-40B4-BE49-F238E27FC236}">
                <a16:creationId xmlns:a16="http://schemas.microsoft.com/office/drawing/2014/main" id="{73E067FF-1755-472B-BE87-1ED82776D979}"/>
              </a:ext>
            </a:extLst>
          </p:cNvPr>
          <p:cNvSpPr>
            <a:spLocks noGrp="1"/>
          </p:cNvSpPr>
          <p:nvPr>
            <p:ph type="sldNum" sz="quarter" idx="12"/>
          </p:nvPr>
        </p:nvSpPr>
        <p:spPr/>
        <p:txBody>
          <a:bodyPr/>
          <a:lstStyle/>
          <a:p>
            <a:fld id="{F4127232-B881-49D7-80AC-901D3A0353F5}" type="slidenum">
              <a:rPr lang="en-IN" smtClean="0"/>
              <a:t>‹#›</a:t>
            </a:fld>
            <a:endParaRPr lang="en-IN"/>
          </a:p>
        </p:txBody>
      </p:sp>
    </p:spTree>
    <p:extLst>
      <p:ext uri="{BB962C8B-B14F-4D97-AF65-F5344CB8AC3E}">
        <p14:creationId xmlns:p14="http://schemas.microsoft.com/office/powerpoint/2010/main" val="1656463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8A717-7E1B-45FF-9305-B98A0A63198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6E5707-FFAB-4D92-926F-B6769E0DD8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4AB87C-152E-4B90-B2A7-A2AEA37048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4D42B6B-66F6-45B6-9C11-91E262AC32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C5F427-FB11-4EF1-849C-1F874820E5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5703841-8552-4DD3-8622-7A18DF11C757}"/>
              </a:ext>
            </a:extLst>
          </p:cNvPr>
          <p:cNvSpPr>
            <a:spLocks noGrp="1"/>
          </p:cNvSpPr>
          <p:nvPr>
            <p:ph type="dt" sz="half" idx="10"/>
          </p:nvPr>
        </p:nvSpPr>
        <p:spPr/>
        <p:txBody>
          <a:bodyPr/>
          <a:lstStyle/>
          <a:p>
            <a:fld id="{C4C38B93-EF2F-40AD-AB8A-75312A290CC2}" type="datetime1">
              <a:rPr lang="en-IN" smtClean="0"/>
              <a:t>24-11-2025</a:t>
            </a:fld>
            <a:endParaRPr lang="en-IN"/>
          </a:p>
        </p:txBody>
      </p:sp>
      <p:sp>
        <p:nvSpPr>
          <p:cNvPr id="8" name="Footer Placeholder 7">
            <a:extLst>
              <a:ext uri="{FF2B5EF4-FFF2-40B4-BE49-F238E27FC236}">
                <a16:creationId xmlns:a16="http://schemas.microsoft.com/office/drawing/2014/main" id="{6DB673F1-A460-453E-9D9D-5C5B86B6A5F9}"/>
              </a:ext>
            </a:extLst>
          </p:cNvPr>
          <p:cNvSpPr>
            <a:spLocks noGrp="1"/>
          </p:cNvSpPr>
          <p:nvPr>
            <p:ph type="ftr" sz="quarter" idx="11"/>
          </p:nvPr>
        </p:nvSpPr>
        <p:spPr/>
        <p:txBody>
          <a:bodyPr/>
          <a:lstStyle/>
          <a:p>
            <a:r>
              <a:rPr lang="en-US"/>
              <a:t>Dept. of CSE (Cyber Security) – Major Project Presentation</a:t>
            </a:r>
            <a:endParaRPr lang="en-IN"/>
          </a:p>
        </p:txBody>
      </p:sp>
      <p:sp>
        <p:nvSpPr>
          <p:cNvPr id="9" name="Slide Number Placeholder 8">
            <a:extLst>
              <a:ext uri="{FF2B5EF4-FFF2-40B4-BE49-F238E27FC236}">
                <a16:creationId xmlns:a16="http://schemas.microsoft.com/office/drawing/2014/main" id="{599A76D1-47EA-480B-AFD4-C48EA89A5B2D}"/>
              </a:ext>
            </a:extLst>
          </p:cNvPr>
          <p:cNvSpPr>
            <a:spLocks noGrp="1"/>
          </p:cNvSpPr>
          <p:nvPr>
            <p:ph type="sldNum" sz="quarter" idx="12"/>
          </p:nvPr>
        </p:nvSpPr>
        <p:spPr/>
        <p:txBody>
          <a:bodyPr/>
          <a:lstStyle/>
          <a:p>
            <a:fld id="{F4127232-B881-49D7-80AC-901D3A0353F5}" type="slidenum">
              <a:rPr lang="en-IN" smtClean="0"/>
              <a:t>‹#›</a:t>
            </a:fld>
            <a:endParaRPr lang="en-IN"/>
          </a:p>
        </p:txBody>
      </p:sp>
    </p:spTree>
    <p:extLst>
      <p:ext uri="{BB962C8B-B14F-4D97-AF65-F5344CB8AC3E}">
        <p14:creationId xmlns:p14="http://schemas.microsoft.com/office/powerpoint/2010/main" val="2724744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FDE6C-4F89-413E-935A-3CF3D1A753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0EAED48-573A-405F-A140-9C5FD51D512B}"/>
              </a:ext>
            </a:extLst>
          </p:cNvPr>
          <p:cNvSpPr>
            <a:spLocks noGrp="1"/>
          </p:cNvSpPr>
          <p:nvPr>
            <p:ph type="dt" sz="half" idx="10"/>
          </p:nvPr>
        </p:nvSpPr>
        <p:spPr/>
        <p:txBody>
          <a:bodyPr/>
          <a:lstStyle/>
          <a:p>
            <a:fld id="{C2537166-842F-4E1A-8859-0429D612DBE3}" type="datetime1">
              <a:rPr lang="en-IN" smtClean="0"/>
              <a:t>24-11-2025</a:t>
            </a:fld>
            <a:endParaRPr lang="en-IN"/>
          </a:p>
        </p:txBody>
      </p:sp>
      <p:sp>
        <p:nvSpPr>
          <p:cNvPr id="4" name="Footer Placeholder 3">
            <a:extLst>
              <a:ext uri="{FF2B5EF4-FFF2-40B4-BE49-F238E27FC236}">
                <a16:creationId xmlns:a16="http://schemas.microsoft.com/office/drawing/2014/main" id="{3E104246-C561-44AE-9B04-4114BA233422}"/>
              </a:ext>
            </a:extLst>
          </p:cNvPr>
          <p:cNvSpPr>
            <a:spLocks noGrp="1"/>
          </p:cNvSpPr>
          <p:nvPr>
            <p:ph type="ftr" sz="quarter" idx="11"/>
          </p:nvPr>
        </p:nvSpPr>
        <p:spPr/>
        <p:txBody>
          <a:bodyPr/>
          <a:lstStyle/>
          <a:p>
            <a:r>
              <a:rPr lang="en-US"/>
              <a:t>Dept. of CSE (Cyber Security) – Major Project Presentation</a:t>
            </a:r>
            <a:endParaRPr lang="en-IN"/>
          </a:p>
        </p:txBody>
      </p:sp>
      <p:sp>
        <p:nvSpPr>
          <p:cNvPr id="5" name="Slide Number Placeholder 4">
            <a:extLst>
              <a:ext uri="{FF2B5EF4-FFF2-40B4-BE49-F238E27FC236}">
                <a16:creationId xmlns:a16="http://schemas.microsoft.com/office/drawing/2014/main" id="{A43EAFB8-3F4D-41A4-B9CC-0171BFCE6694}"/>
              </a:ext>
            </a:extLst>
          </p:cNvPr>
          <p:cNvSpPr>
            <a:spLocks noGrp="1"/>
          </p:cNvSpPr>
          <p:nvPr>
            <p:ph type="sldNum" sz="quarter" idx="12"/>
          </p:nvPr>
        </p:nvSpPr>
        <p:spPr/>
        <p:txBody>
          <a:bodyPr/>
          <a:lstStyle/>
          <a:p>
            <a:fld id="{F4127232-B881-49D7-80AC-901D3A0353F5}" type="slidenum">
              <a:rPr lang="en-IN" smtClean="0"/>
              <a:t>‹#›</a:t>
            </a:fld>
            <a:endParaRPr lang="en-IN"/>
          </a:p>
        </p:txBody>
      </p:sp>
    </p:spTree>
    <p:extLst>
      <p:ext uri="{BB962C8B-B14F-4D97-AF65-F5344CB8AC3E}">
        <p14:creationId xmlns:p14="http://schemas.microsoft.com/office/powerpoint/2010/main" val="2152065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251264-B05A-41E2-85C1-C3133FFCAC53}"/>
              </a:ext>
            </a:extLst>
          </p:cNvPr>
          <p:cNvSpPr>
            <a:spLocks noGrp="1"/>
          </p:cNvSpPr>
          <p:nvPr>
            <p:ph type="dt" sz="half" idx="10"/>
          </p:nvPr>
        </p:nvSpPr>
        <p:spPr/>
        <p:txBody>
          <a:bodyPr/>
          <a:lstStyle/>
          <a:p>
            <a:fld id="{70B55BAF-E2B5-4005-A33F-4E99E12EC9F1}" type="datetime1">
              <a:rPr lang="en-IN" smtClean="0"/>
              <a:t>24-11-2025</a:t>
            </a:fld>
            <a:endParaRPr lang="en-IN"/>
          </a:p>
        </p:txBody>
      </p:sp>
      <p:sp>
        <p:nvSpPr>
          <p:cNvPr id="3" name="Footer Placeholder 2">
            <a:extLst>
              <a:ext uri="{FF2B5EF4-FFF2-40B4-BE49-F238E27FC236}">
                <a16:creationId xmlns:a16="http://schemas.microsoft.com/office/drawing/2014/main" id="{3A729440-6767-4FF4-8339-D8C445D2574D}"/>
              </a:ext>
            </a:extLst>
          </p:cNvPr>
          <p:cNvSpPr>
            <a:spLocks noGrp="1"/>
          </p:cNvSpPr>
          <p:nvPr>
            <p:ph type="ftr" sz="quarter" idx="11"/>
          </p:nvPr>
        </p:nvSpPr>
        <p:spPr/>
        <p:txBody>
          <a:bodyPr/>
          <a:lstStyle/>
          <a:p>
            <a:r>
              <a:rPr lang="en-US"/>
              <a:t>Dept. of CSE (Cyber Security) – Major Project Presentation</a:t>
            </a:r>
            <a:endParaRPr lang="en-IN"/>
          </a:p>
        </p:txBody>
      </p:sp>
      <p:sp>
        <p:nvSpPr>
          <p:cNvPr id="4" name="Slide Number Placeholder 3">
            <a:extLst>
              <a:ext uri="{FF2B5EF4-FFF2-40B4-BE49-F238E27FC236}">
                <a16:creationId xmlns:a16="http://schemas.microsoft.com/office/drawing/2014/main" id="{4A2B551F-A873-4646-8881-929A4BFD9374}"/>
              </a:ext>
            </a:extLst>
          </p:cNvPr>
          <p:cNvSpPr>
            <a:spLocks noGrp="1"/>
          </p:cNvSpPr>
          <p:nvPr>
            <p:ph type="sldNum" sz="quarter" idx="12"/>
          </p:nvPr>
        </p:nvSpPr>
        <p:spPr/>
        <p:txBody>
          <a:bodyPr/>
          <a:lstStyle/>
          <a:p>
            <a:fld id="{F4127232-B881-49D7-80AC-901D3A0353F5}" type="slidenum">
              <a:rPr lang="en-IN" smtClean="0"/>
              <a:t>‹#›</a:t>
            </a:fld>
            <a:endParaRPr lang="en-IN"/>
          </a:p>
        </p:txBody>
      </p:sp>
    </p:spTree>
    <p:extLst>
      <p:ext uri="{BB962C8B-B14F-4D97-AF65-F5344CB8AC3E}">
        <p14:creationId xmlns:p14="http://schemas.microsoft.com/office/powerpoint/2010/main" val="172739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5F311-181C-41AE-ABE5-73B894E9BB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18CECD9-A1B7-4800-9F47-CC55679E69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1A9293-2B05-4B4C-8D12-839060270C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955C78-4430-4CEC-AD90-97CB75B7D84E}"/>
              </a:ext>
            </a:extLst>
          </p:cNvPr>
          <p:cNvSpPr>
            <a:spLocks noGrp="1"/>
          </p:cNvSpPr>
          <p:nvPr>
            <p:ph type="dt" sz="half" idx="10"/>
          </p:nvPr>
        </p:nvSpPr>
        <p:spPr/>
        <p:txBody>
          <a:bodyPr/>
          <a:lstStyle/>
          <a:p>
            <a:fld id="{47011031-F659-4E46-AB79-FAA7BA38259E}" type="datetime1">
              <a:rPr lang="en-IN" smtClean="0"/>
              <a:t>24-11-2025</a:t>
            </a:fld>
            <a:endParaRPr lang="en-IN"/>
          </a:p>
        </p:txBody>
      </p:sp>
      <p:sp>
        <p:nvSpPr>
          <p:cNvPr id="6" name="Footer Placeholder 5">
            <a:extLst>
              <a:ext uri="{FF2B5EF4-FFF2-40B4-BE49-F238E27FC236}">
                <a16:creationId xmlns:a16="http://schemas.microsoft.com/office/drawing/2014/main" id="{2CE9A332-5CEE-4992-A2BF-1D9CB3ADD010}"/>
              </a:ext>
            </a:extLst>
          </p:cNvPr>
          <p:cNvSpPr>
            <a:spLocks noGrp="1"/>
          </p:cNvSpPr>
          <p:nvPr>
            <p:ph type="ftr" sz="quarter" idx="11"/>
          </p:nvPr>
        </p:nvSpPr>
        <p:spPr/>
        <p:txBody>
          <a:bodyPr/>
          <a:lstStyle/>
          <a:p>
            <a:r>
              <a:rPr lang="en-US"/>
              <a:t>Dept. of CSE (Cyber Security) – Major Project Presentation</a:t>
            </a:r>
            <a:endParaRPr lang="en-IN"/>
          </a:p>
        </p:txBody>
      </p:sp>
      <p:sp>
        <p:nvSpPr>
          <p:cNvPr id="7" name="Slide Number Placeholder 6">
            <a:extLst>
              <a:ext uri="{FF2B5EF4-FFF2-40B4-BE49-F238E27FC236}">
                <a16:creationId xmlns:a16="http://schemas.microsoft.com/office/drawing/2014/main" id="{7FA63A7F-F4D0-4BA4-BB2E-D90451E76338}"/>
              </a:ext>
            </a:extLst>
          </p:cNvPr>
          <p:cNvSpPr>
            <a:spLocks noGrp="1"/>
          </p:cNvSpPr>
          <p:nvPr>
            <p:ph type="sldNum" sz="quarter" idx="12"/>
          </p:nvPr>
        </p:nvSpPr>
        <p:spPr/>
        <p:txBody>
          <a:bodyPr/>
          <a:lstStyle/>
          <a:p>
            <a:fld id="{F4127232-B881-49D7-80AC-901D3A0353F5}" type="slidenum">
              <a:rPr lang="en-IN" smtClean="0"/>
              <a:t>‹#›</a:t>
            </a:fld>
            <a:endParaRPr lang="en-IN"/>
          </a:p>
        </p:txBody>
      </p:sp>
    </p:spTree>
    <p:extLst>
      <p:ext uri="{BB962C8B-B14F-4D97-AF65-F5344CB8AC3E}">
        <p14:creationId xmlns:p14="http://schemas.microsoft.com/office/powerpoint/2010/main" val="1915687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77446-A267-429E-A2E7-EE0030D512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41C6C17-5C62-4DE1-A9D0-6151DABE1C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109838-4D5B-433F-8389-B92EF8958B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172E9B-7849-4F8A-9CC2-8061DA43443D}"/>
              </a:ext>
            </a:extLst>
          </p:cNvPr>
          <p:cNvSpPr>
            <a:spLocks noGrp="1"/>
          </p:cNvSpPr>
          <p:nvPr>
            <p:ph type="dt" sz="half" idx="10"/>
          </p:nvPr>
        </p:nvSpPr>
        <p:spPr/>
        <p:txBody>
          <a:bodyPr/>
          <a:lstStyle/>
          <a:p>
            <a:fld id="{DEB108FF-CB59-46F5-96BF-AF43E3608078}" type="datetime1">
              <a:rPr lang="en-IN" smtClean="0"/>
              <a:t>24-11-2025</a:t>
            </a:fld>
            <a:endParaRPr lang="en-IN"/>
          </a:p>
        </p:txBody>
      </p:sp>
      <p:sp>
        <p:nvSpPr>
          <p:cNvPr id="6" name="Footer Placeholder 5">
            <a:extLst>
              <a:ext uri="{FF2B5EF4-FFF2-40B4-BE49-F238E27FC236}">
                <a16:creationId xmlns:a16="http://schemas.microsoft.com/office/drawing/2014/main" id="{177EEAF8-B564-4A89-86D4-368036A3D8BC}"/>
              </a:ext>
            </a:extLst>
          </p:cNvPr>
          <p:cNvSpPr>
            <a:spLocks noGrp="1"/>
          </p:cNvSpPr>
          <p:nvPr>
            <p:ph type="ftr" sz="quarter" idx="11"/>
          </p:nvPr>
        </p:nvSpPr>
        <p:spPr/>
        <p:txBody>
          <a:bodyPr/>
          <a:lstStyle/>
          <a:p>
            <a:r>
              <a:rPr lang="en-US"/>
              <a:t>Dept. of CSE (Cyber Security) – Major Project Presentation</a:t>
            </a:r>
            <a:endParaRPr lang="en-IN"/>
          </a:p>
        </p:txBody>
      </p:sp>
      <p:sp>
        <p:nvSpPr>
          <p:cNvPr id="7" name="Slide Number Placeholder 6">
            <a:extLst>
              <a:ext uri="{FF2B5EF4-FFF2-40B4-BE49-F238E27FC236}">
                <a16:creationId xmlns:a16="http://schemas.microsoft.com/office/drawing/2014/main" id="{B9E789A4-9F0E-4CA8-B506-9013057772E1}"/>
              </a:ext>
            </a:extLst>
          </p:cNvPr>
          <p:cNvSpPr>
            <a:spLocks noGrp="1"/>
          </p:cNvSpPr>
          <p:nvPr>
            <p:ph type="sldNum" sz="quarter" idx="12"/>
          </p:nvPr>
        </p:nvSpPr>
        <p:spPr/>
        <p:txBody>
          <a:bodyPr/>
          <a:lstStyle/>
          <a:p>
            <a:fld id="{F4127232-B881-49D7-80AC-901D3A0353F5}" type="slidenum">
              <a:rPr lang="en-IN" smtClean="0"/>
              <a:t>‹#›</a:t>
            </a:fld>
            <a:endParaRPr lang="en-IN"/>
          </a:p>
        </p:txBody>
      </p:sp>
    </p:spTree>
    <p:extLst>
      <p:ext uri="{BB962C8B-B14F-4D97-AF65-F5344CB8AC3E}">
        <p14:creationId xmlns:p14="http://schemas.microsoft.com/office/powerpoint/2010/main" val="4144229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B856E-294D-48BA-B9DB-5723F67990B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573CD0-06B5-48F6-9406-9F365DFAA5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3E141B-639B-44B1-9DFB-0547B5823637}"/>
              </a:ext>
            </a:extLst>
          </p:cNvPr>
          <p:cNvSpPr>
            <a:spLocks noGrp="1"/>
          </p:cNvSpPr>
          <p:nvPr>
            <p:ph type="dt" sz="half" idx="10"/>
          </p:nvPr>
        </p:nvSpPr>
        <p:spPr/>
        <p:txBody>
          <a:bodyPr/>
          <a:lstStyle/>
          <a:p>
            <a:fld id="{3EED716B-DE7F-4E25-BCE6-191357936CE6}" type="datetime1">
              <a:rPr lang="en-IN" smtClean="0"/>
              <a:t>24-11-2025</a:t>
            </a:fld>
            <a:endParaRPr lang="en-IN"/>
          </a:p>
        </p:txBody>
      </p:sp>
      <p:sp>
        <p:nvSpPr>
          <p:cNvPr id="5" name="Footer Placeholder 4">
            <a:extLst>
              <a:ext uri="{FF2B5EF4-FFF2-40B4-BE49-F238E27FC236}">
                <a16:creationId xmlns:a16="http://schemas.microsoft.com/office/drawing/2014/main" id="{A4136D1E-43FA-41B8-841D-C858988FF09C}"/>
              </a:ext>
            </a:extLst>
          </p:cNvPr>
          <p:cNvSpPr>
            <a:spLocks noGrp="1"/>
          </p:cNvSpPr>
          <p:nvPr>
            <p:ph type="ftr" sz="quarter" idx="11"/>
          </p:nvPr>
        </p:nvSpPr>
        <p:spPr/>
        <p:txBody>
          <a:bodyPr/>
          <a:lstStyle/>
          <a:p>
            <a:r>
              <a:rPr lang="en-US"/>
              <a:t>Dept. of CSE (Cyber Security) – Major Project Presentation</a:t>
            </a:r>
            <a:endParaRPr lang="en-IN"/>
          </a:p>
        </p:txBody>
      </p:sp>
      <p:sp>
        <p:nvSpPr>
          <p:cNvPr id="6" name="Slide Number Placeholder 5">
            <a:extLst>
              <a:ext uri="{FF2B5EF4-FFF2-40B4-BE49-F238E27FC236}">
                <a16:creationId xmlns:a16="http://schemas.microsoft.com/office/drawing/2014/main" id="{9FCD4FED-4099-4CA0-BCE7-E13FF52F5719}"/>
              </a:ext>
            </a:extLst>
          </p:cNvPr>
          <p:cNvSpPr>
            <a:spLocks noGrp="1"/>
          </p:cNvSpPr>
          <p:nvPr>
            <p:ph type="sldNum" sz="quarter" idx="12"/>
          </p:nvPr>
        </p:nvSpPr>
        <p:spPr/>
        <p:txBody>
          <a:bodyPr/>
          <a:lstStyle/>
          <a:p>
            <a:fld id="{F4127232-B881-49D7-80AC-901D3A0353F5}" type="slidenum">
              <a:rPr lang="en-IN" smtClean="0"/>
              <a:t>‹#›</a:t>
            </a:fld>
            <a:endParaRPr lang="en-IN"/>
          </a:p>
        </p:txBody>
      </p:sp>
    </p:spTree>
    <p:extLst>
      <p:ext uri="{BB962C8B-B14F-4D97-AF65-F5344CB8AC3E}">
        <p14:creationId xmlns:p14="http://schemas.microsoft.com/office/powerpoint/2010/main" val="2426294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D2C37C-3B09-4F28-987E-761E4896CC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0ED722-DCF2-4107-9A3E-63911792B1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FB4BAC-7A78-4C3B-8390-06DCDE6C57D7}"/>
              </a:ext>
            </a:extLst>
          </p:cNvPr>
          <p:cNvSpPr>
            <a:spLocks noGrp="1"/>
          </p:cNvSpPr>
          <p:nvPr>
            <p:ph type="dt" sz="half" idx="10"/>
          </p:nvPr>
        </p:nvSpPr>
        <p:spPr/>
        <p:txBody>
          <a:bodyPr/>
          <a:lstStyle/>
          <a:p>
            <a:fld id="{7541F962-A8CE-498D-9D93-8740F788AFF7}" type="datetime1">
              <a:rPr lang="en-IN" smtClean="0"/>
              <a:t>24-11-2025</a:t>
            </a:fld>
            <a:endParaRPr lang="en-IN"/>
          </a:p>
        </p:txBody>
      </p:sp>
      <p:sp>
        <p:nvSpPr>
          <p:cNvPr id="5" name="Footer Placeholder 4">
            <a:extLst>
              <a:ext uri="{FF2B5EF4-FFF2-40B4-BE49-F238E27FC236}">
                <a16:creationId xmlns:a16="http://schemas.microsoft.com/office/drawing/2014/main" id="{CF609AAC-037B-48B2-86A4-8F9D3642D574}"/>
              </a:ext>
            </a:extLst>
          </p:cNvPr>
          <p:cNvSpPr>
            <a:spLocks noGrp="1"/>
          </p:cNvSpPr>
          <p:nvPr>
            <p:ph type="ftr" sz="quarter" idx="11"/>
          </p:nvPr>
        </p:nvSpPr>
        <p:spPr/>
        <p:txBody>
          <a:bodyPr/>
          <a:lstStyle/>
          <a:p>
            <a:r>
              <a:rPr lang="en-US"/>
              <a:t>Dept. of CSE (Cyber Security) – Major Project Presentation</a:t>
            </a:r>
            <a:endParaRPr lang="en-IN"/>
          </a:p>
        </p:txBody>
      </p:sp>
      <p:sp>
        <p:nvSpPr>
          <p:cNvPr id="6" name="Slide Number Placeholder 5">
            <a:extLst>
              <a:ext uri="{FF2B5EF4-FFF2-40B4-BE49-F238E27FC236}">
                <a16:creationId xmlns:a16="http://schemas.microsoft.com/office/drawing/2014/main" id="{64CD5BAD-79C4-471E-BFA3-5CACB9FE922F}"/>
              </a:ext>
            </a:extLst>
          </p:cNvPr>
          <p:cNvSpPr>
            <a:spLocks noGrp="1"/>
          </p:cNvSpPr>
          <p:nvPr>
            <p:ph type="sldNum" sz="quarter" idx="12"/>
          </p:nvPr>
        </p:nvSpPr>
        <p:spPr/>
        <p:txBody>
          <a:bodyPr/>
          <a:lstStyle/>
          <a:p>
            <a:fld id="{F4127232-B881-49D7-80AC-901D3A0353F5}" type="slidenum">
              <a:rPr lang="en-IN" smtClean="0"/>
              <a:t>‹#›</a:t>
            </a:fld>
            <a:endParaRPr lang="en-IN"/>
          </a:p>
        </p:txBody>
      </p:sp>
    </p:spTree>
    <p:extLst>
      <p:ext uri="{BB962C8B-B14F-4D97-AF65-F5344CB8AC3E}">
        <p14:creationId xmlns:p14="http://schemas.microsoft.com/office/powerpoint/2010/main" val="22446691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4_Title Slide_DeepYellow">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2190750" y="0"/>
            <a:ext cx="1000125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pic>
        <p:nvPicPr>
          <p:cNvPr id="5" name="Picture 4" descr="A gold medal with red text&#10;&#10;Description automatically generated">
            <a:extLst>
              <a:ext uri="{FF2B5EF4-FFF2-40B4-BE49-F238E27FC236}">
                <a16:creationId xmlns:a16="http://schemas.microsoft.com/office/drawing/2014/main" id="{4FDE5DC3-3992-4B20-A801-FF5F468474F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7130" y="4759548"/>
            <a:ext cx="1801368" cy="1773708"/>
          </a:xfrm>
          <a:prstGeom prst="rect">
            <a:avLst/>
          </a:prstGeom>
        </p:spPr>
      </p:pic>
    </p:spTree>
    <p:extLst>
      <p:ext uri="{BB962C8B-B14F-4D97-AF65-F5344CB8AC3E}">
        <p14:creationId xmlns:p14="http://schemas.microsoft.com/office/powerpoint/2010/main" val="1115986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image" Target="../media/image6.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C439CEC-D483-4990-A958-4F585F703A91}"/>
              </a:ext>
            </a:extLst>
          </p:cNvPr>
          <p:cNvSpPr/>
          <p:nvPr userDrawn="1"/>
        </p:nvSpPr>
        <p:spPr>
          <a:xfrm>
            <a:off x="-7177" y="6086185"/>
            <a:ext cx="12203121" cy="754421"/>
          </a:xfrm>
          <a:prstGeom prst="rect">
            <a:avLst/>
          </a:prstGeom>
          <a:solidFill>
            <a:schemeClr val="bg1">
              <a:lumMod val="95000"/>
            </a:schemeClr>
          </a:solidFill>
          <a:ln>
            <a:solidFill>
              <a:schemeClr val="bg1">
                <a:lumMod val="9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8" name="Rectangle 7">
            <a:extLst>
              <a:ext uri="{FF2B5EF4-FFF2-40B4-BE49-F238E27FC236}">
                <a16:creationId xmlns:a16="http://schemas.microsoft.com/office/drawing/2014/main" id="{4BF8D7F1-F5F0-4A6C-8DD7-80007D19EDA1}"/>
              </a:ext>
            </a:extLst>
          </p:cNvPr>
          <p:cNvSpPr/>
          <p:nvPr userDrawn="1"/>
        </p:nvSpPr>
        <p:spPr>
          <a:xfrm>
            <a:off x="0" y="0"/>
            <a:ext cx="1097280" cy="6858000"/>
          </a:xfrm>
          <a:prstGeom prst="rect">
            <a:avLst/>
          </a:prstGeom>
          <a:solidFill>
            <a:schemeClr val="bg1">
              <a:lumMod val="95000"/>
            </a:schemeClr>
          </a:solidFill>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 name="Title Placeholder 1">
            <a:extLst>
              <a:ext uri="{FF2B5EF4-FFF2-40B4-BE49-F238E27FC236}">
                <a16:creationId xmlns:a16="http://schemas.microsoft.com/office/drawing/2014/main" id="{0A2F8530-5442-4E42-8EDA-39E651D0264F}"/>
              </a:ext>
            </a:extLst>
          </p:cNvPr>
          <p:cNvSpPr>
            <a:spLocks noGrp="1"/>
          </p:cNvSpPr>
          <p:nvPr>
            <p:ph type="title"/>
          </p:nvPr>
        </p:nvSpPr>
        <p:spPr>
          <a:xfrm>
            <a:off x="1301839" y="58003"/>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B918B7-9313-40CC-93ED-2A01345B306F}"/>
              </a:ext>
            </a:extLst>
          </p:cNvPr>
          <p:cNvSpPr>
            <a:spLocks noGrp="1"/>
          </p:cNvSpPr>
          <p:nvPr>
            <p:ph type="body" idx="1"/>
          </p:nvPr>
        </p:nvSpPr>
        <p:spPr>
          <a:xfrm>
            <a:off x="1301839" y="1562950"/>
            <a:ext cx="10515600" cy="465754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27C892-E9C6-4BCF-B729-8600710B6310}"/>
              </a:ext>
            </a:extLst>
          </p:cNvPr>
          <p:cNvSpPr>
            <a:spLocks noGrp="1"/>
          </p:cNvSpPr>
          <p:nvPr>
            <p:ph type="dt" sz="half" idx="2"/>
          </p:nvPr>
        </p:nvSpPr>
        <p:spPr>
          <a:xfrm>
            <a:off x="3227818" y="6376311"/>
            <a:ext cx="1202513" cy="365125"/>
          </a:xfrm>
          <a:prstGeom prst="rect">
            <a:avLst/>
          </a:prstGeom>
        </p:spPr>
        <p:txBody>
          <a:bodyPr vert="horz" lIns="91440" tIns="45720" rIns="91440" bIns="45720" rtlCol="0" anchor="ctr"/>
          <a:lstStyle>
            <a:lvl1pPr algn="ctr">
              <a:defRPr sz="1200" b="1">
                <a:solidFill>
                  <a:srgbClr val="002060"/>
                </a:solidFill>
              </a:defRPr>
            </a:lvl1pPr>
          </a:lstStyle>
          <a:p>
            <a:fld id="{B778C3DE-69BE-490D-8BCD-3596B2C37202}" type="datetime1">
              <a:rPr lang="en-IN" smtClean="0"/>
              <a:t>24-11-2025</a:t>
            </a:fld>
            <a:endParaRPr lang="en-IN"/>
          </a:p>
        </p:txBody>
      </p:sp>
      <p:sp>
        <p:nvSpPr>
          <p:cNvPr id="5" name="Footer Placeholder 4">
            <a:extLst>
              <a:ext uri="{FF2B5EF4-FFF2-40B4-BE49-F238E27FC236}">
                <a16:creationId xmlns:a16="http://schemas.microsoft.com/office/drawing/2014/main" id="{67A0CA2F-7DA4-4807-814F-EA978A277387}"/>
              </a:ext>
            </a:extLst>
          </p:cNvPr>
          <p:cNvSpPr>
            <a:spLocks noGrp="1"/>
          </p:cNvSpPr>
          <p:nvPr>
            <p:ph type="ftr" sz="quarter" idx="3"/>
          </p:nvPr>
        </p:nvSpPr>
        <p:spPr>
          <a:xfrm>
            <a:off x="4571999" y="6367168"/>
            <a:ext cx="6529589" cy="365125"/>
          </a:xfrm>
          <a:prstGeom prst="rect">
            <a:avLst/>
          </a:prstGeom>
        </p:spPr>
        <p:txBody>
          <a:bodyPr vert="horz" lIns="91440" tIns="45720" rIns="91440" bIns="45720" rtlCol="0" anchor="ctr"/>
          <a:lstStyle>
            <a:lvl1pPr algn="ctr">
              <a:defRPr sz="1200" b="1">
                <a:solidFill>
                  <a:srgbClr val="002060"/>
                </a:solidFill>
              </a:defRPr>
            </a:lvl1pPr>
          </a:lstStyle>
          <a:p>
            <a:r>
              <a:rPr lang="en-US" dirty="0"/>
              <a:t>Dept. of CSE (Cyber Security) – Major Project Presentation</a:t>
            </a:r>
            <a:endParaRPr lang="en-IN" dirty="0"/>
          </a:p>
        </p:txBody>
      </p:sp>
      <p:sp>
        <p:nvSpPr>
          <p:cNvPr id="6" name="Slide Number Placeholder 5">
            <a:extLst>
              <a:ext uri="{FF2B5EF4-FFF2-40B4-BE49-F238E27FC236}">
                <a16:creationId xmlns:a16="http://schemas.microsoft.com/office/drawing/2014/main" id="{D05A8429-EB5D-4D7F-A6C5-34825F66ABF8}"/>
              </a:ext>
            </a:extLst>
          </p:cNvPr>
          <p:cNvSpPr>
            <a:spLocks noGrp="1"/>
          </p:cNvSpPr>
          <p:nvPr>
            <p:ph type="sldNum" sz="quarter" idx="4"/>
          </p:nvPr>
        </p:nvSpPr>
        <p:spPr>
          <a:xfrm>
            <a:off x="11240699" y="6351787"/>
            <a:ext cx="576740" cy="365125"/>
          </a:xfrm>
          <a:prstGeom prst="rect">
            <a:avLst/>
          </a:prstGeom>
        </p:spPr>
        <p:txBody>
          <a:bodyPr vert="horz" lIns="91440" tIns="45720" rIns="91440" bIns="45720" rtlCol="0" anchor="ctr"/>
          <a:lstStyle>
            <a:lvl1pPr algn="ctr">
              <a:defRPr sz="1200" b="1">
                <a:solidFill>
                  <a:srgbClr val="002060"/>
                </a:solidFill>
              </a:defRPr>
            </a:lvl1pPr>
          </a:lstStyle>
          <a:p>
            <a:fld id="{F4127232-B881-49D7-80AC-901D3A0353F5}" type="slidenum">
              <a:rPr lang="en-IN" smtClean="0"/>
              <a:pPr/>
              <a:t>‹#›</a:t>
            </a:fld>
            <a:endParaRPr lang="en-IN" dirty="0"/>
          </a:p>
        </p:txBody>
      </p:sp>
      <p:pic>
        <p:nvPicPr>
          <p:cNvPr id="7" name="Picture 6" descr="A logo of elephants in a blue and white circle&#10;&#10;Description automatically generated">
            <a:extLst>
              <a:ext uri="{FF2B5EF4-FFF2-40B4-BE49-F238E27FC236}">
                <a16:creationId xmlns:a16="http://schemas.microsoft.com/office/drawing/2014/main" id="{324EA748-A47B-40B9-8BE0-49CB8FCD852B}"/>
              </a:ext>
            </a:extLst>
          </p:cNvPr>
          <p:cNvPicPr>
            <a:picLocks noChangeAspect="1"/>
          </p:cNvPicPr>
          <p:nvPr userDrawn="1"/>
        </p:nvPicPr>
        <p:blipFill>
          <a:blip r:embed="rId14"/>
          <a:stretch>
            <a:fillRect/>
          </a:stretch>
        </p:blipFill>
        <p:spPr>
          <a:xfrm>
            <a:off x="-1" y="17394"/>
            <a:ext cx="1097280" cy="700840"/>
          </a:xfrm>
          <a:prstGeom prst="rect">
            <a:avLst/>
          </a:prstGeom>
        </p:spPr>
      </p:pic>
      <p:pic>
        <p:nvPicPr>
          <p:cNvPr id="1026" name="Picture 2" descr="Home - IEEE Computer Society Bangalore Chapter">
            <a:extLst>
              <a:ext uri="{FF2B5EF4-FFF2-40B4-BE49-F238E27FC236}">
                <a16:creationId xmlns:a16="http://schemas.microsoft.com/office/drawing/2014/main" id="{F82850D8-9585-44A6-A25A-4CB81B760921}"/>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20056" y="3329211"/>
            <a:ext cx="1107308" cy="56251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plate with a picture of a person in a white hat&#10;&#10;Description automatically generated">
            <a:extLst>
              <a:ext uri="{FF2B5EF4-FFF2-40B4-BE49-F238E27FC236}">
                <a16:creationId xmlns:a16="http://schemas.microsoft.com/office/drawing/2014/main" id="{3CF11455-C87D-4CA0-8C12-41ED39C01271}"/>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 y="834388"/>
            <a:ext cx="1097280" cy="1098355"/>
          </a:xfrm>
          <a:prstGeom prst="rect">
            <a:avLst/>
          </a:prstGeom>
        </p:spPr>
      </p:pic>
      <p:pic>
        <p:nvPicPr>
          <p:cNvPr id="1030" name="Picture 6" descr="Sharda Malawi Scholarship 2024-25">
            <a:extLst>
              <a:ext uri="{FF2B5EF4-FFF2-40B4-BE49-F238E27FC236}">
                <a16:creationId xmlns:a16="http://schemas.microsoft.com/office/drawing/2014/main" id="{CEECD17E-B514-4C46-B29B-9874A4B09FCC}"/>
              </a:ext>
            </a:extLst>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0028" y="2046791"/>
            <a:ext cx="1097280" cy="109728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6AF7B6F0-A73D-491F-9F84-14F0C120065F}"/>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8935" y="6139766"/>
            <a:ext cx="3020862" cy="70084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A white and blue logo&#10;&#10;Description automatically generated">
            <a:extLst>
              <a:ext uri="{FF2B5EF4-FFF2-40B4-BE49-F238E27FC236}">
                <a16:creationId xmlns:a16="http://schemas.microsoft.com/office/drawing/2014/main" id="{B7B1D12B-CD78-4680-A812-8E00C0497951}"/>
              </a:ext>
            </a:extLst>
          </p:cNvPr>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7177" y="3989214"/>
            <a:ext cx="1097280" cy="1097280"/>
          </a:xfrm>
          <a:prstGeom prst="rect">
            <a:avLst/>
          </a:prstGeom>
        </p:spPr>
      </p:pic>
    </p:spTree>
    <p:extLst>
      <p:ext uri="{BB962C8B-B14F-4D97-AF65-F5344CB8AC3E}">
        <p14:creationId xmlns:p14="http://schemas.microsoft.com/office/powerpoint/2010/main" val="3351654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F610F-00D0-4A5B-AD26-68372DB432E7}"/>
              </a:ext>
            </a:extLst>
          </p:cNvPr>
          <p:cNvSpPr>
            <a:spLocks noGrp="1"/>
          </p:cNvSpPr>
          <p:nvPr>
            <p:ph type="ctrTitle"/>
          </p:nvPr>
        </p:nvSpPr>
        <p:spPr>
          <a:xfrm>
            <a:off x="2167944" y="1305328"/>
            <a:ext cx="9144000" cy="1313646"/>
          </a:xfrm>
        </p:spPr>
        <p:txBody>
          <a:bodyPr anchor="t">
            <a:noAutofit/>
          </a:bodyPr>
          <a:lstStyle/>
          <a:p>
            <a:r>
              <a:rPr lang="en-US" sz="3200" b="1" dirty="0">
                <a:solidFill>
                  <a:srgbClr val="C00000"/>
                </a:solidFill>
              </a:rPr>
              <a:t>Adaptive Threat Hunting Packet Capture Framework For Enterprise Networks</a:t>
            </a:r>
            <a:endParaRPr lang="en-IN" sz="3200" b="1" dirty="0">
              <a:solidFill>
                <a:srgbClr val="C00000"/>
              </a:solidFill>
            </a:endParaRPr>
          </a:p>
        </p:txBody>
      </p:sp>
      <p:sp>
        <p:nvSpPr>
          <p:cNvPr id="3" name="Subtitle 2">
            <a:extLst>
              <a:ext uri="{FF2B5EF4-FFF2-40B4-BE49-F238E27FC236}">
                <a16:creationId xmlns:a16="http://schemas.microsoft.com/office/drawing/2014/main" id="{DB2EB793-6B0A-420A-929F-0B46E9576FF1}"/>
              </a:ext>
            </a:extLst>
          </p:cNvPr>
          <p:cNvSpPr>
            <a:spLocks noGrp="1"/>
          </p:cNvSpPr>
          <p:nvPr>
            <p:ph type="subTitle" idx="1"/>
          </p:nvPr>
        </p:nvSpPr>
        <p:spPr>
          <a:xfrm>
            <a:off x="2167944" y="2485624"/>
            <a:ext cx="9144000" cy="3374263"/>
          </a:xfrm>
        </p:spPr>
        <p:txBody>
          <a:bodyPr>
            <a:normAutofit/>
          </a:bodyPr>
          <a:lstStyle/>
          <a:p>
            <a:r>
              <a:rPr lang="en-US" sz="2800" b="1" dirty="0">
                <a:solidFill>
                  <a:srgbClr val="7030A0"/>
                </a:solidFill>
              </a:rPr>
              <a:t>TEAM-19</a:t>
            </a:r>
            <a:endParaRPr lang="en-US" b="1" dirty="0">
              <a:solidFill>
                <a:srgbClr val="7030A0"/>
              </a:solidFill>
            </a:endParaRPr>
          </a:p>
          <a:p>
            <a:r>
              <a:rPr lang="en-US" sz="2800" b="1" dirty="0">
                <a:solidFill>
                  <a:srgbClr val="002060"/>
                </a:solidFill>
              </a:rPr>
              <a:t>Smayan C Nandi 		1RN22CY037</a:t>
            </a:r>
          </a:p>
          <a:p>
            <a:r>
              <a:rPr lang="en-US" sz="2800" b="1" dirty="0">
                <a:solidFill>
                  <a:srgbClr val="002060"/>
                </a:solidFill>
              </a:rPr>
              <a:t>Varun Hegde 			1RN22CY047 </a:t>
            </a:r>
          </a:p>
          <a:p>
            <a:r>
              <a:rPr lang="en-US" sz="2800" b="1" dirty="0">
                <a:solidFill>
                  <a:srgbClr val="002060"/>
                </a:solidFill>
              </a:rPr>
              <a:t>Vishruth M Hullatti		1RN22CY050</a:t>
            </a:r>
          </a:p>
          <a:p>
            <a:r>
              <a:rPr lang="en-US" sz="2800" b="1" dirty="0">
                <a:solidFill>
                  <a:srgbClr val="C00000"/>
                </a:solidFill>
              </a:rPr>
              <a:t>Guide</a:t>
            </a:r>
          </a:p>
          <a:p>
            <a:r>
              <a:rPr lang="en-US" sz="2000" b="1" dirty="0">
                <a:solidFill>
                  <a:srgbClr val="002060"/>
                </a:solidFill>
              </a:rPr>
              <a:t>Dr. Kiran P</a:t>
            </a:r>
          </a:p>
          <a:p>
            <a:r>
              <a:rPr lang="en-US" sz="2000" b="1" dirty="0">
                <a:solidFill>
                  <a:srgbClr val="C00000"/>
                </a:solidFill>
              </a:rPr>
              <a:t>Professor and Head</a:t>
            </a:r>
            <a:endParaRPr lang="en-IN" b="1" dirty="0"/>
          </a:p>
        </p:txBody>
      </p:sp>
      <p:sp>
        <p:nvSpPr>
          <p:cNvPr id="4" name="TextBox 3">
            <a:extLst>
              <a:ext uri="{FF2B5EF4-FFF2-40B4-BE49-F238E27FC236}">
                <a16:creationId xmlns:a16="http://schemas.microsoft.com/office/drawing/2014/main" id="{C06803F1-3889-481C-8A54-801E498A7275}"/>
              </a:ext>
            </a:extLst>
          </p:cNvPr>
          <p:cNvSpPr txBox="1"/>
          <p:nvPr/>
        </p:nvSpPr>
        <p:spPr>
          <a:xfrm>
            <a:off x="3032120" y="6284891"/>
            <a:ext cx="9159880" cy="400110"/>
          </a:xfrm>
          <a:prstGeom prst="rect">
            <a:avLst/>
          </a:prstGeom>
          <a:noFill/>
        </p:spPr>
        <p:txBody>
          <a:bodyPr wrap="none" rtlCol="0">
            <a:spAutoFit/>
          </a:bodyPr>
          <a:lstStyle/>
          <a:p>
            <a:r>
              <a:rPr lang="en-US" sz="2000" b="1" dirty="0">
                <a:solidFill>
                  <a:srgbClr val="C00000"/>
                </a:solidFill>
              </a:rPr>
              <a:t>Department of Computer Science and Engineering (Cyber Security)</a:t>
            </a:r>
            <a:endParaRPr lang="en-IN" sz="2000" b="1" dirty="0">
              <a:solidFill>
                <a:srgbClr val="C00000"/>
              </a:solidFill>
            </a:endParaRPr>
          </a:p>
        </p:txBody>
      </p:sp>
    </p:spTree>
    <p:extLst>
      <p:ext uri="{BB962C8B-B14F-4D97-AF65-F5344CB8AC3E}">
        <p14:creationId xmlns:p14="http://schemas.microsoft.com/office/powerpoint/2010/main" val="84409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C9322FC9-D70F-4563-A089-EB993D21ECEA}"/>
              </a:ext>
            </a:extLst>
          </p:cNvPr>
          <p:cNvSpPr>
            <a:spLocks noGrp="1"/>
          </p:cNvSpPr>
          <p:nvPr>
            <p:ph type="subTitle" idx="1"/>
          </p:nvPr>
        </p:nvSpPr>
        <p:spPr>
          <a:xfrm>
            <a:off x="4583832" y="764704"/>
            <a:ext cx="4072586" cy="936104"/>
          </a:xfrm>
        </p:spPr>
        <p:txBody>
          <a:bodyPr>
            <a:normAutofit fontScale="92500"/>
          </a:bodyPr>
          <a:lstStyle/>
          <a:p>
            <a:r>
              <a:rPr lang="en-IN" sz="5400" dirty="0"/>
              <a:t>Our leaders </a:t>
            </a:r>
          </a:p>
        </p:txBody>
      </p:sp>
      <p:sp>
        <p:nvSpPr>
          <p:cNvPr id="19" name="TextBox 18">
            <a:extLst>
              <a:ext uri="{FF2B5EF4-FFF2-40B4-BE49-F238E27FC236}">
                <a16:creationId xmlns:a16="http://schemas.microsoft.com/office/drawing/2014/main" id="{D7A80311-6DFA-4E17-8F9C-59C0BB8121A8}"/>
              </a:ext>
            </a:extLst>
          </p:cNvPr>
          <p:cNvSpPr txBox="1"/>
          <p:nvPr/>
        </p:nvSpPr>
        <p:spPr>
          <a:xfrm>
            <a:off x="6137904" y="4960382"/>
            <a:ext cx="2592288" cy="1015663"/>
          </a:xfrm>
          <a:prstGeom prst="rect">
            <a:avLst/>
          </a:prstGeom>
          <a:noFill/>
        </p:spPr>
        <p:txBody>
          <a:bodyPr wrap="square" rtlCol="0">
            <a:spAutoFit/>
          </a:bodyPr>
          <a:lstStyle/>
          <a:p>
            <a:pPr algn="ctr"/>
            <a:r>
              <a:rPr lang="en-IN" sz="2000" b="1" dirty="0">
                <a:solidFill>
                  <a:srgbClr val="002060"/>
                </a:solidFill>
              </a:rPr>
              <a:t>Dr. R N Shetty</a:t>
            </a:r>
          </a:p>
          <a:p>
            <a:pPr algn="ctr"/>
            <a:r>
              <a:rPr lang="en-IN" sz="2000" b="1" dirty="0">
                <a:solidFill>
                  <a:srgbClr val="002060"/>
                </a:solidFill>
              </a:rPr>
              <a:t>Founder</a:t>
            </a:r>
          </a:p>
          <a:p>
            <a:pPr algn="ctr"/>
            <a:r>
              <a:rPr lang="en-IN" sz="2000" b="1" dirty="0">
                <a:solidFill>
                  <a:srgbClr val="002060"/>
                </a:solidFill>
              </a:rPr>
              <a:t>1928 - forever</a:t>
            </a:r>
          </a:p>
        </p:txBody>
      </p:sp>
      <p:pic>
        <p:nvPicPr>
          <p:cNvPr id="13" name="Picture 12" descr="A person in a suit&#10;&#10;Description automatically generated with low confidence">
            <a:extLst>
              <a:ext uri="{FF2B5EF4-FFF2-40B4-BE49-F238E27FC236}">
                <a16:creationId xmlns:a16="http://schemas.microsoft.com/office/drawing/2014/main" id="{544A68D2-E8A2-43CC-8CB7-FE76D0A9E379}"/>
              </a:ext>
            </a:extLst>
          </p:cNvPr>
          <p:cNvPicPr>
            <a:picLocks noChangeAspect="1"/>
          </p:cNvPicPr>
          <p:nvPr/>
        </p:nvPicPr>
        <p:blipFill>
          <a:blip r:embed="rId2"/>
          <a:stretch>
            <a:fillRect/>
          </a:stretch>
        </p:blipFill>
        <p:spPr>
          <a:xfrm>
            <a:off x="5591944" y="1574452"/>
            <a:ext cx="3240000" cy="3240000"/>
          </a:xfrm>
          <a:prstGeom prst="ellipse">
            <a:avLst/>
          </a:prstGeom>
          <a:ln w="12700" cap="rnd">
            <a:solidFill>
              <a:schemeClr val="tx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0" name="Picture 9" descr="A picture containing table, bowl, sitting, cup&#10;&#10;Description automatically generated">
            <a:extLst>
              <a:ext uri="{FF2B5EF4-FFF2-40B4-BE49-F238E27FC236}">
                <a16:creationId xmlns:a16="http://schemas.microsoft.com/office/drawing/2014/main" id="{103923A2-05BF-42E8-BC3D-9742FF0A70F7}"/>
              </a:ext>
            </a:extLst>
          </p:cNvPr>
          <p:cNvPicPr>
            <a:picLocks noChangeAspect="1"/>
          </p:cNvPicPr>
          <p:nvPr/>
        </p:nvPicPr>
        <p:blipFill>
          <a:blip r:embed="rId3"/>
          <a:stretch>
            <a:fillRect/>
          </a:stretch>
        </p:blipFill>
        <p:spPr>
          <a:xfrm>
            <a:off x="3877444" y="3940734"/>
            <a:ext cx="1714500" cy="1714500"/>
          </a:xfrm>
          <a:prstGeom prst="rect">
            <a:avLst/>
          </a:prstGeom>
        </p:spPr>
      </p:pic>
      <p:pic>
        <p:nvPicPr>
          <p:cNvPr id="17" name="Picture 16" descr="A picture containing table, bowl, sitting, cup&#10;&#10;Description automatically generated">
            <a:extLst>
              <a:ext uri="{FF2B5EF4-FFF2-40B4-BE49-F238E27FC236}">
                <a16:creationId xmlns:a16="http://schemas.microsoft.com/office/drawing/2014/main" id="{E310BEB3-0820-45EA-8B27-CDE5C0B84FA9}"/>
              </a:ext>
            </a:extLst>
          </p:cNvPr>
          <p:cNvPicPr>
            <a:picLocks noChangeAspect="1"/>
          </p:cNvPicPr>
          <p:nvPr/>
        </p:nvPicPr>
        <p:blipFill>
          <a:blip r:embed="rId3"/>
          <a:stretch>
            <a:fillRect/>
          </a:stretch>
        </p:blipFill>
        <p:spPr>
          <a:xfrm>
            <a:off x="9276152" y="3940734"/>
            <a:ext cx="1714500" cy="1714500"/>
          </a:xfrm>
          <a:prstGeom prst="rect">
            <a:avLst/>
          </a:prstGeom>
        </p:spPr>
      </p:pic>
      <p:sp>
        <p:nvSpPr>
          <p:cNvPr id="11" name="Rectangle 10">
            <a:extLst>
              <a:ext uri="{FF2B5EF4-FFF2-40B4-BE49-F238E27FC236}">
                <a16:creationId xmlns:a16="http://schemas.microsoft.com/office/drawing/2014/main" id="{65DC3370-BD6F-49AF-8EC0-1F87E46139B3}"/>
              </a:ext>
            </a:extLst>
          </p:cNvPr>
          <p:cNvSpPr/>
          <p:nvPr/>
        </p:nvSpPr>
        <p:spPr>
          <a:xfrm>
            <a:off x="2969552" y="881954"/>
            <a:ext cx="8928992" cy="5897523"/>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8" name="Picture 27" descr="A picture containing red, dark, colorful&#10;&#10;Description automatically generated">
            <a:extLst>
              <a:ext uri="{FF2B5EF4-FFF2-40B4-BE49-F238E27FC236}">
                <a16:creationId xmlns:a16="http://schemas.microsoft.com/office/drawing/2014/main" id="{3C5D943C-6BD2-4848-A23E-64D650C68B6F}"/>
              </a:ext>
            </a:extLst>
          </p:cNvPr>
          <p:cNvPicPr>
            <a:picLocks noChangeAspect="1"/>
          </p:cNvPicPr>
          <p:nvPr/>
        </p:nvPicPr>
        <p:blipFill>
          <a:blip r:embed="rId4"/>
          <a:stretch>
            <a:fillRect/>
          </a:stretch>
        </p:blipFill>
        <p:spPr>
          <a:xfrm>
            <a:off x="3820276" y="1100690"/>
            <a:ext cx="6313126" cy="4532501"/>
          </a:xfrm>
          <a:prstGeom prst="rect">
            <a:avLst/>
          </a:prstGeom>
        </p:spPr>
      </p:pic>
      <p:pic>
        <p:nvPicPr>
          <p:cNvPr id="30" name="Picture 29" descr="A picture containing sky, water, outdoor&#10;&#10;Description automatically generated">
            <a:extLst>
              <a:ext uri="{FF2B5EF4-FFF2-40B4-BE49-F238E27FC236}">
                <a16:creationId xmlns:a16="http://schemas.microsoft.com/office/drawing/2014/main" id="{65F8DA0D-7FA7-452B-99C5-969E26CB1269}"/>
              </a:ext>
            </a:extLst>
          </p:cNvPr>
          <p:cNvPicPr>
            <a:picLocks noChangeAspect="1"/>
          </p:cNvPicPr>
          <p:nvPr/>
        </p:nvPicPr>
        <p:blipFill rotWithShape="1">
          <a:blip r:embed="rId5"/>
          <a:srcRect l="4771" t="5660" r="42609" b="4083"/>
          <a:stretch/>
        </p:blipFill>
        <p:spPr>
          <a:xfrm>
            <a:off x="272848" y="217019"/>
            <a:ext cx="1979860" cy="2186536"/>
          </a:xfrm>
          <a:prstGeom prst="rect">
            <a:avLst/>
          </a:prstGeom>
          <a:ln>
            <a:solidFill>
              <a:schemeClr val="tx1"/>
            </a:solidFill>
          </a:ln>
        </p:spPr>
      </p:pic>
      <p:sp>
        <p:nvSpPr>
          <p:cNvPr id="2" name="TextBox 1">
            <a:extLst>
              <a:ext uri="{FF2B5EF4-FFF2-40B4-BE49-F238E27FC236}">
                <a16:creationId xmlns:a16="http://schemas.microsoft.com/office/drawing/2014/main" id="{89ACD279-D036-4000-8A97-94664CE7E6E6}"/>
              </a:ext>
            </a:extLst>
          </p:cNvPr>
          <p:cNvSpPr txBox="1"/>
          <p:nvPr/>
        </p:nvSpPr>
        <p:spPr>
          <a:xfrm>
            <a:off x="2969552" y="68419"/>
            <a:ext cx="8928992" cy="707886"/>
          </a:xfrm>
          <a:prstGeom prst="rect">
            <a:avLst/>
          </a:prstGeom>
          <a:noFill/>
        </p:spPr>
        <p:txBody>
          <a:bodyPr wrap="square" rtlCol="0" anchor="ctr">
            <a:spAutoFit/>
          </a:bodyPr>
          <a:lstStyle/>
          <a:p>
            <a:pPr algn="ctr"/>
            <a:r>
              <a:rPr lang="en-US" sz="4000" b="1" dirty="0">
                <a:solidFill>
                  <a:srgbClr val="000099"/>
                </a:solidFill>
                <a:latin typeface="Bookman Old Style" panose="02050604050505020204" pitchFamily="18" charset="0"/>
              </a:rPr>
              <a:t>Tribute to Our Founder</a:t>
            </a:r>
            <a:endParaRPr lang="en-IN" sz="4000" b="1" dirty="0">
              <a:solidFill>
                <a:srgbClr val="000099"/>
              </a:solidFill>
              <a:latin typeface="Bookman Old Style" panose="02050604050505020204" pitchFamily="18" charset="0"/>
            </a:endParaRPr>
          </a:p>
        </p:txBody>
      </p:sp>
      <p:pic>
        <p:nvPicPr>
          <p:cNvPr id="12" name="Picture 11" descr="A white gazebo with a dome and steps in front of a body of water&#10;&#10;Description automatically generated">
            <a:extLst>
              <a:ext uri="{FF2B5EF4-FFF2-40B4-BE49-F238E27FC236}">
                <a16:creationId xmlns:a16="http://schemas.microsoft.com/office/drawing/2014/main" id="{A453CBC3-320E-4C46-A8B6-066D7916783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2650" r="22539" b="43760"/>
          <a:stretch/>
        </p:blipFill>
        <p:spPr>
          <a:xfrm>
            <a:off x="272848" y="2535209"/>
            <a:ext cx="1979860" cy="2031473"/>
          </a:xfrm>
          <a:prstGeom prst="rect">
            <a:avLst/>
          </a:prstGeom>
        </p:spPr>
      </p:pic>
    </p:spTree>
    <p:extLst>
      <p:ext uri="{BB962C8B-B14F-4D97-AF65-F5344CB8AC3E}">
        <p14:creationId xmlns:p14="http://schemas.microsoft.com/office/powerpoint/2010/main" val="2326639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D79F86E-E284-4FEE-9748-FF94F52D8145}"/>
              </a:ext>
            </a:extLst>
          </p:cNvPr>
          <p:cNvSpPr>
            <a:spLocks noGrp="1"/>
          </p:cNvSpPr>
          <p:nvPr>
            <p:ph type="title"/>
          </p:nvPr>
        </p:nvSpPr>
        <p:spPr/>
        <p:txBody>
          <a:bodyPr/>
          <a:lstStyle/>
          <a:p>
            <a:r>
              <a:rPr lang="en-US" b="1" dirty="0"/>
              <a:t>Agenda</a:t>
            </a:r>
            <a:endParaRPr lang="en-IN" b="1" dirty="0"/>
          </a:p>
        </p:txBody>
      </p:sp>
      <p:sp>
        <p:nvSpPr>
          <p:cNvPr id="8" name="Content Placeholder 7">
            <a:extLst>
              <a:ext uri="{FF2B5EF4-FFF2-40B4-BE49-F238E27FC236}">
                <a16:creationId xmlns:a16="http://schemas.microsoft.com/office/drawing/2014/main" id="{C56019F1-887D-42CF-BF29-419CE03A6B9D}"/>
              </a:ext>
            </a:extLst>
          </p:cNvPr>
          <p:cNvSpPr>
            <a:spLocks noGrp="1"/>
          </p:cNvSpPr>
          <p:nvPr>
            <p:ph idx="1"/>
          </p:nvPr>
        </p:nvSpPr>
        <p:spPr/>
        <p:txBody>
          <a:bodyPr/>
          <a:lstStyle/>
          <a:p>
            <a:r>
              <a:rPr lang="en-US" dirty="0"/>
              <a:t>Problem Statement</a:t>
            </a:r>
          </a:p>
          <a:p>
            <a:r>
              <a:rPr lang="en-US" dirty="0"/>
              <a:t>Literature Survey</a:t>
            </a:r>
          </a:p>
          <a:p>
            <a:r>
              <a:rPr lang="en-US" dirty="0"/>
              <a:t>Project Objectives</a:t>
            </a:r>
            <a:endParaRPr lang="en-IN" dirty="0"/>
          </a:p>
        </p:txBody>
      </p:sp>
      <p:sp>
        <p:nvSpPr>
          <p:cNvPr id="9" name="Date Placeholder 8">
            <a:extLst>
              <a:ext uri="{FF2B5EF4-FFF2-40B4-BE49-F238E27FC236}">
                <a16:creationId xmlns:a16="http://schemas.microsoft.com/office/drawing/2014/main" id="{49F498C5-962E-416E-A6C2-E0BE62AA334C}"/>
              </a:ext>
            </a:extLst>
          </p:cNvPr>
          <p:cNvSpPr>
            <a:spLocks noGrp="1"/>
          </p:cNvSpPr>
          <p:nvPr>
            <p:ph type="dt" sz="half" idx="10"/>
          </p:nvPr>
        </p:nvSpPr>
        <p:spPr/>
        <p:txBody>
          <a:bodyPr/>
          <a:lstStyle/>
          <a:p>
            <a:fld id="{FFD6AB7E-EA3A-4E64-87B7-0A70E69ABC63}" type="datetime1">
              <a:rPr lang="en-IN" smtClean="0"/>
              <a:t>24-11-2025</a:t>
            </a:fld>
            <a:endParaRPr lang="en-IN"/>
          </a:p>
        </p:txBody>
      </p:sp>
      <p:sp>
        <p:nvSpPr>
          <p:cNvPr id="10" name="Footer Placeholder 9">
            <a:extLst>
              <a:ext uri="{FF2B5EF4-FFF2-40B4-BE49-F238E27FC236}">
                <a16:creationId xmlns:a16="http://schemas.microsoft.com/office/drawing/2014/main" id="{816CE494-3163-41C8-B3CC-624630C646CE}"/>
              </a:ext>
            </a:extLst>
          </p:cNvPr>
          <p:cNvSpPr>
            <a:spLocks noGrp="1"/>
          </p:cNvSpPr>
          <p:nvPr>
            <p:ph type="ftr" sz="quarter" idx="11"/>
          </p:nvPr>
        </p:nvSpPr>
        <p:spPr/>
        <p:txBody>
          <a:bodyPr/>
          <a:lstStyle/>
          <a:p>
            <a:r>
              <a:rPr lang="en-US"/>
              <a:t>Dept. of CSE (Cyber Security) – Major Project Presentation</a:t>
            </a:r>
            <a:endParaRPr lang="en-IN"/>
          </a:p>
        </p:txBody>
      </p:sp>
      <p:sp>
        <p:nvSpPr>
          <p:cNvPr id="11" name="Slide Number Placeholder 10">
            <a:extLst>
              <a:ext uri="{FF2B5EF4-FFF2-40B4-BE49-F238E27FC236}">
                <a16:creationId xmlns:a16="http://schemas.microsoft.com/office/drawing/2014/main" id="{8481AC3C-BA99-4EB8-9034-8EE02C1762AD}"/>
              </a:ext>
            </a:extLst>
          </p:cNvPr>
          <p:cNvSpPr>
            <a:spLocks noGrp="1"/>
          </p:cNvSpPr>
          <p:nvPr>
            <p:ph type="sldNum" sz="quarter" idx="12"/>
          </p:nvPr>
        </p:nvSpPr>
        <p:spPr/>
        <p:txBody>
          <a:bodyPr/>
          <a:lstStyle/>
          <a:p>
            <a:fld id="{F4127232-B881-49D7-80AC-901D3A0353F5}" type="slidenum">
              <a:rPr lang="en-IN" smtClean="0"/>
              <a:t>3</a:t>
            </a:fld>
            <a:endParaRPr lang="en-IN"/>
          </a:p>
        </p:txBody>
      </p:sp>
    </p:spTree>
    <p:extLst>
      <p:ext uri="{BB962C8B-B14F-4D97-AF65-F5344CB8AC3E}">
        <p14:creationId xmlns:p14="http://schemas.microsoft.com/office/powerpoint/2010/main" val="3274856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C5372-C6F4-4202-AD1A-93F9C0A7EF36}"/>
              </a:ext>
            </a:extLst>
          </p:cNvPr>
          <p:cNvSpPr>
            <a:spLocks noGrp="1"/>
          </p:cNvSpPr>
          <p:nvPr>
            <p:ph type="title"/>
          </p:nvPr>
        </p:nvSpPr>
        <p:spPr/>
        <p:txBody>
          <a:bodyPr/>
          <a:lstStyle/>
          <a:p>
            <a:r>
              <a:rPr lang="en-US" b="1" dirty="0"/>
              <a:t>Problem Statement</a:t>
            </a:r>
            <a:endParaRPr lang="en-IN" b="1" dirty="0"/>
          </a:p>
        </p:txBody>
      </p:sp>
      <p:sp>
        <p:nvSpPr>
          <p:cNvPr id="3" name="Content Placeholder 2">
            <a:extLst>
              <a:ext uri="{FF2B5EF4-FFF2-40B4-BE49-F238E27FC236}">
                <a16:creationId xmlns:a16="http://schemas.microsoft.com/office/drawing/2014/main" id="{0CB74E90-B286-4956-BDE5-F24A515C264B}"/>
              </a:ext>
            </a:extLst>
          </p:cNvPr>
          <p:cNvSpPr>
            <a:spLocks noGrp="1"/>
          </p:cNvSpPr>
          <p:nvPr>
            <p:ph idx="1"/>
          </p:nvPr>
        </p:nvSpPr>
        <p:spPr>
          <a:xfrm>
            <a:off x="1216114" y="1383566"/>
            <a:ext cx="10515600" cy="4657546"/>
          </a:xfrm>
        </p:spPr>
        <p:txBody>
          <a:bodyPr/>
          <a:lstStyle/>
          <a:p>
            <a:r>
              <a:rPr lang="en-US" sz="2000" dirty="0"/>
              <a:t>Traditional </a:t>
            </a:r>
            <a:r>
              <a:rPr lang="en-US" sz="2000" b="1" dirty="0"/>
              <a:t>Network Intrusion Detection Systems (NIDS)</a:t>
            </a:r>
            <a:r>
              <a:rPr lang="en-US" sz="2000" dirty="0"/>
              <a:t> face major limitations in detecting modern cyber threats due to their </a:t>
            </a:r>
            <a:r>
              <a:rPr lang="en-US" sz="2000" b="1" dirty="0"/>
              <a:t>static, rule-based approach</a:t>
            </a:r>
            <a:r>
              <a:rPr lang="en-US" sz="2000" dirty="0"/>
              <a:t>.</a:t>
            </a:r>
          </a:p>
          <a:p>
            <a:r>
              <a:rPr lang="en-US" sz="2000" b="1" dirty="0"/>
              <a:t>Key Technical Limitations:</a:t>
            </a:r>
          </a:p>
          <a:p>
            <a:pPr lvl="1"/>
            <a:r>
              <a:rPr lang="en-US" sz="2000" dirty="0"/>
              <a:t>Failure to detect </a:t>
            </a:r>
            <a:r>
              <a:rPr lang="en-US" sz="2000" b="1" dirty="0"/>
              <a:t>zero-day attacks</a:t>
            </a:r>
            <a:r>
              <a:rPr lang="en-US" sz="2000" dirty="0"/>
              <a:t> and </a:t>
            </a:r>
            <a:r>
              <a:rPr lang="en-US" sz="2000" b="1" dirty="0"/>
              <a:t>APTs</a:t>
            </a:r>
            <a:r>
              <a:rPr lang="en-US" sz="2000" dirty="0"/>
              <a:t> due to reliance on </a:t>
            </a:r>
            <a:r>
              <a:rPr lang="en-US" sz="2000" b="1" dirty="0"/>
              <a:t>signature-based detection</a:t>
            </a:r>
            <a:r>
              <a:rPr lang="en-US" sz="2000" dirty="0"/>
              <a:t>.</a:t>
            </a:r>
          </a:p>
          <a:p>
            <a:pPr lvl="1"/>
            <a:r>
              <a:rPr lang="en-US" sz="2000" b="1" dirty="0"/>
              <a:t>High false positives</a:t>
            </a:r>
            <a:r>
              <a:rPr lang="en-US" sz="2000" dirty="0"/>
              <a:t> caused by rigid, static rule configurations.</a:t>
            </a:r>
          </a:p>
          <a:p>
            <a:pPr lvl="1"/>
            <a:r>
              <a:rPr lang="en-US" sz="2000" dirty="0"/>
              <a:t>Lack of </a:t>
            </a:r>
            <a:r>
              <a:rPr lang="en-US" sz="2000" b="1" dirty="0"/>
              <a:t>self-learning mechanisms</a:t>
            </a:r>
            <a:r>
              <a:rPr lang="en-US" sz="2000" dirty="0"/>
              <a:t> to adapt to </a:t>
            </a:r>
            <a:r>
              <a:rPr lang="en-US" sz="2000" b="1" dirty="0"/>
              <a:t>evolving attack patterns</a:t>
            </a:r>
            <a:r>
              <a:rPr lang="en-US" sz="2000" dirty="0"/>
              <a:t>.</a:t>
            </a:r>
          </a:p>
          <a:p>
            <a:pPr lvl="1"/>
            <a:r>
              <a:rPr lang="en-US" sz="2000" dirty="0"/>
              <a:t>No </a:t>
            </a:r>
            <a:r>
              <a:rPr lang="en-US" sz="2000" b="1" dirty="0"/>
              <a:t>automated threat mitigation</a:t>
            </a:r>
            <a:r>
              <a:rPr lang="en-US" sz="2000" dirty="0"/>
              <a:t> — systems only log anomalies without proactive action.</a:t>
            </a:r>
          </a:p>
          <a:p>
            <a:pPr lvl="1"/>
            <a:r>
              <a:rPr lang="en-US" sz="2000" dirty="0"/>
              <a:t>Poor </a:t>
            </a:r>
            <a:r>
              <a:rPr lang="en-US" sz="2000" b="1" dirty="0"/>
              <a:t>multi-vector log correlation</a:t>
            </a:r>
            <a:r>
              <a:rPr lang="en-US" sz="2000" dirty="0"/>
              <a:t>, analyzing logs in isolation without cross-pattern detection.</a:t>
            </a:r>
            <a:endParaRPr lang="en-US" sz="2000" b="1" dirty="0"/>
          </a:p>
          <a:p>
            <a:pPr lvl="1"/>
            <a:r>
              <a:rPr lang="en-US" sz="2000" dirty="0"/>
              <a:t>Struggles to handle </a:t>
            </a:r>
            <a:r>
              <a:rPr lang="en-US" sz="2000" b="1" dirty="0"/>
              <a:t>high-traffic networks</a:t>
            </a:r>
            <a:r>
              <a:rPr lang="en-US" sz="2000" dirty="0"/>
              <a:t> with real-time efficiency.</a:t>
            </a:r>
          </a:p>
          <a:p>
            <a:pPr lvl="1"/>
            <a:r>
              <a:rPr lang="en-US" sz="2000" dirty="0"/>
              <a:t>Heavy reliance on </a:t>
            </a:r>
            <a:r>
              <a:rPr lang="en-US" sz="2000" b="1" dirty="0"/>
              <a:t>manual rule updates</a:t>
            </a:r>
            <a:r>
              <a:rPr lang="en-US" sz="2000" dirty="0"/>
              <a:t> for new threat detection</a:t>
            </a:r>
            <a:r>
              <a:rPr lang="en-US" sz="1800" dirty="0"/>
              <a:t>.</a:t>
            </a:r>
          </a:p>
          <a:p>
            <a:endParaRPr lang="en-IN" dirty="0"/>
          </a:p>
        </p:txBody>
      </p:sp>
      <p:sp>
        <p:nvSpPr>
          <p:cNvPr id="4" name="Date Placeholder 3">
            <a:extLst>
              <a:ext uri="{FF2B5EF4-FFF2-40B4-BE49-F238E27FC236}">
                <a16:creationId xmlns:a16="http://schemas.microsoft.com/office/drawing/2014/main" id="{4334905B-3873-4EE7-B4BE-6842BF96344D}"/>
              </a:ext>
            </a:extLst>
          </p:cNvPr>
          <p:cNvSpPr>
            <a:spLocks noGrp="1"/>
          </p:cNvSpPr>
          <p:nvPr>
            <p:ph type="dt" sz="half" idx="10"/>
          </p:nvPr>
        </p:nvSpPr>
        <p:spPr/>
        <p:txBody>
          <a:bodyPr/>
          <a:lstStyle/>
          <a:p>
            <a:fld id="{6A53E3A5-9CAF-4D04-A452-BA209225C052}" type="datetime1">
              <a:rPr lang="en-IN" smtClean="0"/>
              <a:t>24-11-2025</a:t>
            </a:fld>
            <a:endParaRPr lang="en-IN"/>
          </a:p>
        </p:txBody>
      </p:sp>
      <p:sp>
        <p:nvSpPr>
          <p:cNvPr id="5" name="Footer Placeholder 4">
            <a:extLst>
              <a:ext uri="{FF2B5EF4-FFF2-40B4-BE49-F238E27FC236}">
                <a16:creationId xmlns:a16="http://schemas.microsoft.com/office/drawing/2014/main" id="{BB695EA9-2C40-4C63-89C1-6082FA4E9DF1}"/>
              </a:ext>
            </a:extLst>
          </p:cNvPr>
          <p:cNvSpPr>
            <a:spLocks noGrp="1"/>
          </p:cNvSpPr>
          <p:nvPr>
            <p:ph type="ftr" sz="quarter" idx="11"/>
          </p:nvPr>
        </p:nvSpPr>
        <p:spPr/>
        <p:txBody>
          <a:bodyPr/>
          <a:lstStyle/>
          <a:p>
            <a:r>
              <a:rPr lang="en-US"/>
              <a:t>Dept. of CSE (Cyber Security) – Major Project Presentation</a:t>
            </a:r>
            <a:endParaRPr lang="en-IN"/>
          </a:p>
        </p:txBody>
      </p:sp>
      <p:sp>
        <p:nvSpPr>
          <p:cNvPr id="6" name="Slide Number Placeholder 5">
            <a:extLst>
              <a:ext uri="{FF2B5EF4-FFF2-40B4-BE49-F238E27FC236}">
                <a16:creationId xmlns:a16="http://schemas.microsoft.com/office/drawing/2014/main" id="{985AF083-FD0E-45AF-B62E-186314C42606}"/>
              </a:ext>
            </a:extLst>
          </p:cNvPr>
          <p:cNvSpPr>
            <a:spLocks noGrp="1"/>
          </p:cNvSpPr>
          <p:nvPr>
            <p:ph type="sldNum" sz="quarter" idx="12"/>
          </p:nvPr>
        </p:nvSpPr>
        <p:spPr/>
        <p:txBody>
          <a:bodyPr/>
          <a:lstStyle/>
          <a:p>
            <a:fld id="{F4127232-B881-49D7-80AC-901D3A0353F5}" type="slidenum">
              <a:rPr lang="en-IN" smtClean="0"/>
              <a:t>4</a:t>
            </a:fld>
            <a:endParaRPr lang="en-IN"/>
          </a:p>
        </p:txBody>
      </p:sp>
    </p:spTree>
    <p:extLst>
      <p:ext uri="{BB962C8B-B14F-4D97-AF65-F5344CB8AC3E}">
        <p14:creationId xmlns:p14="http://schemas.microsoft.com/office/powerpoint/2010/main" val="1187280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2AE90-9025-4D5E-B078-4FEFB7EEB1B2}"/>
              </a:ext>
            </a:extLst>
          </p:cNvPr>
          <p:cNvSpPr>
            <a:spLocks noGrp="1"/>
          </p:cNvSpPr>
          <p:nvPr>
            <p:ph type="title"/>
          </p:nvPr>
        </p:nvSpPr>
        <p:spPr>
          <a:xfrm>
            <a:off x="3227818" y="2255837"/>
            <a:ext cx="6375311" cy="1325563"/>
          </a:xfrm>
        </p:spPr>
        <p:txBody>
          <a:bodyPr/>
          <a:lstStyle/>
          <a:p>
            <a:r>
              <a:rPr lang="en-US" b="1" dirty="0"/>
              <a:t>Literature Survey</a:t>
            </a:r>
            <a:endParaRPr lang="en-IN" b="1" dirty="0"/>
          </a:p>
        </p:txBody>
      </p:sp>
      <p:sp>
        <p:nvSpPr>
          <p:cNvPr id="4" name="Date Placeholder 3">
            <a:extLst>
              <a:ext uri="{FF2B5EF4-FFF2-40B4-BE49-F238E27FC236}">
                <a16:creationId xmlns:a16="http://schemas.microsoft.com/office/drawing/2014/main" id="{3EC6099D-30E0-49EB-82C1-4D5184CF1387}"/>
              </a:ext>
            </a:extLst>
          </p:cNvPr>
          <p:cNvSpPr>
            <a:spLocks noGrp="1"/>
          </p:cNvSpPr>
          <p:nvPr>
            <p:ph type="dt" sz="half" idx="10"/>
          </p:nvPr>
        </p:nvSpPr>
        <p:spPr/>
        <p:txBody>
          <a:bodyPr/>
          <a:lstStyle/>
          <a:p>
            <a:fld id="{F8691C9A-6954-4795-B603-BCE997ED064C}" type="datetime1">
              <a:rPr lang="en-IN" smtClean="0"/>
              <a:t>24-11-2025</a:t>
            </a:fld>
            <a:endParaRPr lang="en-IN"/>
          </a:p>
        </p:txBody>
      </p:sp>
      <p:sp>
        <p:nvSpPr>
          <p:cNvPr id="5" name="Footer Placeholder 4">
            <a:extLst>
              <a:ext uri="{FF2B5EF4-FFF2-40B4-BE49-F238E27FC236}">
                <a16:creationId xmlns:a16="http://schemas.microsoft.com/office/drawing/2014/main" id="{7B5769CA-FA1A-43D5-8D2D-788CAD335B6D}"/>
              </a:ext>
            </a:extLst>
          </p:cNvPr>
          <p:cNvSpPr>
            <a:spLocks noGrp="1"/>
          </p:cNvSpPr>
          <p:nvPr>
            <p:ph type="ftr" sz="quarter" idx="11"/>
          </p:nvPr>
        </p:nvSpPr>
        <p:spPr/>
        <p:txBody>
          <a:bodyPr/>
          <a:lstStyle/>
          <a:p>
            <a:r>
              <a:rPr lang="en-US"/>
              <a:t>Dept. of CSE (Cyber Security) – Major Project Presentation</a:t>
            </a:r>
            <a:endParaRPr lang="en-IN"/>
          </a:p>
        </p:txBody>
      </p:sp>
      <p:sp>
        <p:nvSpPr>
          <p:cNvPr id="6" name="Slide Number Placeholder 5">
            <a:extLst>
              <a:ext uri="{FF2B5EF4-FFF2-40B4-BE49-F238E27FC236}">
                <a16:creationId xmlns:a16="http://schemas.microsoft.com/office/drawing/2014/main" id="{7BF09D72-9C46-4019-A719-7473D5252B17}"/>
              </a:ext>
            </a:extLst>
          </p:cNvPr>
          <p:cNvSpPr>
            <a:spLocks noGrp="1"/>
          </p:cNvSpPr>
          <p:nvPr>
            <p:ph type="sldNum" sz="quarter" idx="12"/>
          </p:nvPr>
        </p:nvSpPr>
        <p:spPr/>
        <p:txBody>
          <a:bodyPr/>
          <a:lstStyle/>
          <a:p>
            <a:fld id="{F4127232-B881-49D7-80AC-901D3A0353F5}" type="slidenum">
              <a:rPr lang="en-IN" smtClean="0"/>
              <a:t>5</a:t>
            </a:fld>
            <a:endParaRPr lang="en-IN"/>
          </a:p>
        </p:txBody>
      </p:sp>
    </p:spTree>
    <p:extLst>
      <p:ext uri="{BB962C8B-B14F-4D97-AF65-F5344CB8AC3E}">
        <p14:creationId xmlns:p14="http://schemas.microsoft.com/office/powerpoint/2010/main" val="4053365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A7008-FCA7-AD77-59B6-9FA53637B86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69C2B41-3EED-BEF4-5DA2-8E88DDC8985B}"/>
              </a:ext>
            </a:extLst>
          </p:cNvPr>
          <p:cNvSpPr>
            <a:spLocks noGrp="1"/>
          </p:cNvSpPr>
          <p:nvPr>
            <p:ph type="dt" sz="half" idx="10"/>
          </p:nvPr>
        </p:nvSpPr>
        <p:spPr/>
        <p:txBody>
          <a:bodyPr/>
          <a:lstStyle/>
          <a:p>
            <a:fld id="{F8691C9A-6954-4795-B603-BCE997ED064C}" type="datetime1">
              <a:rPr lang="en-IN" smtClean="0"/>
              <a:t>24-11-2025</a:t>
            </a:fld>
            <a:endParaRPr lang="en-IN"/>
          </a:p>
        </p:txBody>
      </p:sp>
      <p:sp>
        <p:nvSpPr>
          <p:cNvPr id="5" name="Footer Placeholder 4">
            <a:extLst>
              <a:ext uri="{FF2B5EF4-FFF2-40B4-BE49-F238E27FC236}">
                <a16:creationId xmlns:a16="http://schemas.microsoft.com/office/drawing/2014/main" id="{381B3E3F-5485-267B-ADE9-C1600E417E08}"/>
              </a:ext>
            </a:extLst>
          </p:cNvPr>
          <p:cNvSpPr>
            <a:spLocks noGrp="1"/>
          </p:cNvSpPr>
          <p:nvPr>
            <p:ph type="ftr" sz="quarter" idx="11"/>
          </p:nvPr>
        </p:nvSpPr>
        <p:spPr/>
        <p:txBody>
          <a:bodyPr/>
          <a:lstStyle/>
          <a:p>
            <a:r>
              <a:rPr lang="en-US"/>
              <a:t>Dept. of CSE (Cyber Security) – Major Project Presentation</a:t>
            </a:r>
            <a:endParaRPr lang="en-IN"/>
          </a:p>
        </p:txBody>
      </p:sp>
      <p:sp>
        <p:nvSpPr>
          <p:cNvPr id="6" name="Slide Number Placeholder 5">
            <a:extLst>
              <a:ext uri="{FF2B5EF4-FFF2-40B4-BE49-F238E27FC236}">
                <a16:creationId xmlns:a16="http://schemas.microsoft.com/office/drawing/2014/main" id="{A007CC95-2B09-BA87-541B-AE5003EAFF91}"/>
              </a:ext>
            </a:extLst>
          </p:cNvPr>
          <p:cNvSpPr>
            <a:spLocks noGrp="1"/>
          </p:cNvSpPr>
          <p:nvPr>
            <p:ph type="sldNum" sz="quarter" idx="12"/>
          </p:nvPr>
        </p:nvSpPr>
        <p:spPr/>
        <p:txBody>
          <a:bodyPr/>
          <a:lstStyle/>
          <a:p>
            <a:fld id="{F4127232-B881-49D7-80AC-901D3A0353F5}" type="slidenum">
              <a:rPr lang="en-IN" smtClean="0"/>
              <a:t>6</a:t>
            </a:fld>
            <a:endParaRPr lang="en-IN"/>
          </a:p>
        </p:txBody>
      </p:sp>
      <p:graphicFrame>
        <p:nvGraphicFramePr>
          <p:cNvPr id="11" name="Table 10">
            <a:extLst>
              <a:ext uri="{FF2B5EF4-FFF2-40B4-BE49-F238E27FC236}">
                <a16:creationId xmlns:a16="http://schemas.microsoft.com/office/drawing/2014/main" id="{F481E98B-F8BE-3B35-B41F-59F94BC4878D}"/>
              </a:ext>
            </a:extLst>
          </p:cNvPr>
          <p:cNvGraphicFramePr>
            <a:graphicFrameLocks noGrp="1"/>
          </p:cNvGraphicFramePr>
          <p:nvPr>
            <p:extLst>
              <p:ext uri="{D42A27DB-BD31-4B8C-83A1-F6EECF244321}">
                <p14:modId xmlns:p14="http://schemas.microsoft.com/office/powerpoint/2010/main" val="2544717770"/>
              </p:ext>
            </p:extLst>
          </p:nvPr>
        </p:nvGraphicFramePr>
        <p:xfrm>
          <a:off x="1111340" y="0"/>
          <a:ext cx="11080660" cy="6269027"/>
        </p:xfrm>
        <a:graphic>
          <a:graphicData uri="http://schemas.openxmlformats.org/drawingml/2006/table">
            <a:tbl>
              <a:tblPr firstRow="1" bandRow="1">
                <a:tableStyleId>{5C22544A-7EE6-4342-B048-85BDC9FD1C3A}</a:tableStyleId>
              </a:tblPr>
              <a:tblGrid>
                <a:gridCol w="2216132">
                  <a:extLst>
                    <a:ext uri="{9D8B030D-6E8A-4147-A177-3AD203B41FA5}">
                      <a16:colId xmlns:a16="http://schemas.microsoft.com/office/drawing/2014/main" val="3914808927"/>
                    </a:ext>
                  </a:extLst>
                </a:gridCol>
                <a:gridCol w="2216132">
                  <a:extLst>
                    <a:ext uri="{9D8B030D-6E8A-4147-A177-3AD203B41FA5}">
                      <a16:colId xmlns:a16="http://schemas.microsoft.com/office/drawing/2014/main" val="786256122"/>
                    </a:ext>
                  </a:extLst>
                </a:gridCol>
                <a:gridCol w="2216132">
                  <a:extLst>
                    <a:ext uri="{9D8B030D-6E8A-4147-A177-3AD203B41FA5}">
                      <a16:colId xmlns:a16="http://schemas.microsoft.com/office/drawing/2014/main" val="1794266219"/>
                    </a:ext>
                  </a:extLst>
                </a:gridCol>
                <a:gridCol w="2216132">
                  <a:extLst>
                    <a:ext uri="{9D8B030D-6E8A-4147-A177-3AD203B41FA5}">
                      <a16:colId xmlns:a16="http://schemas.microsoft.com/office/drawing/2014/main" val="1931045715"/>
                    </a:ext>
                  </a:extLst>
                </a:gridCol>
                <a:gridCol w="2216132">
                  <a:extLst>
                    <a:ext uri="{9D8B030D-6E8A-4147-A177-3AD203B41FA5}">
                      <a16:colId xmlns:a16="http://schemas.microsoft.com/office/drawing/2014/main" val="1699709812"/>
                    </a:ext>
                  </a:extLst>
                </a:gridCol>
              </a:tblGrid>
              <a:tr h="447347">
                <a:tc>
                  <a:txBody>
                    <a:bodyPr/>
                    <a:lstStyle/>
                    <a:p>
                      <a:pPr algn="ctr"/>
                      <a:r>
                        <a:rPr lang="en-IN" sz="1200" b="1" dirty="0"/>
                        <a:t>Paper Title</a:t>
                      </a:r>
                    </a:p>
                  </a:txBody>
                  <a:tcPr/>
                </a:tc>
                <a:tc>
                  <a:txBody>
                    <a:bodyPr/>
                    <a:lstStyle/>
                    <a:p>
                      <a:pPr algn="ctr"/>
                      <a:r>
                        <a:rPr lang="en-IN" sz="1200" b="1" dirty="0"/>
                        <a:t>Authors</a:t>
                      </a:r>
                    </a:p>
                  </a:txBody>
                  <a:tcPr/>
                </a:tc>
                <a:tc>
                  <a:txBody>
                    <a:bodyPr/>
                    <a:lstStyle/>
                    <a:p>
                      <a:pPr algn="ctr"/>
                      <a:r>
                        <a:rPr lang="en-IN" sz="1200" b="1" dirty="0"/>
                        <a:t>Key Focus</a:t>
                      </a:r>
                    </a:p>
                  </a:txBody>
                  <a:tcPr/>
                </a:tc>
                <a:tc>
                  <a:txBody>
                    <a:bodyPr/>
                    <a:lstStyle/>
                    <a:p>
                      <a:pPr algn="ctr"/>
                      <a:r>
                        <a:rPr lang="en-IN" sz="1200" b="1" dirty="0"/>
                        <a:t>Findings &amp; Contributions</a:t>
                      </a:r>
                    </a:p>
                  </a:txBody>
                  <a:tcPr/>
                </a:tc>
                <a:tc>
                  <a:txBody>
                    <a:bodyPr/>
                    <a:lstStyle/>
                    <a:p>
                      <a:pPr algn="ctr"/>
                      <a:r>
                        <a:rPr lang="en-IN" sz="1200" b="1" dirty="0"/>
                        <a:t>Technology</a:t>
                      </a:r>
                    </a:p>
                  </a:txBody>
                  <a:tcPr/>
                </a:tc>
                <a:extLst>
                  <a:ext uri="{0D108BD9-81ED-4DB2-BD59-A6C34878D82A}">
                    <a16:rowId xmlns:a16="http://schemas.microsoft.com/office/drawing/2014/main" val="31367572"/>
                  </a:ext>
                </a:extLst>
              </a:tr>
              <a:tr h="1095567">
                <a:tc>
                  <a:txBody>
                    <a:bodyPr/>
                    <a:lstStyle/>
                    <a:p>
                      <a:r>
                        <a:rPr lang="en-US" sz="1100" dirty="0"/>
                        <a:t>Automated Threat Hunting, Detection, and Threat Actor Profiling Using TIRA</a:t>
                      </a:r>
                      <a:endParaRPr lang="en-IN" sz="1100" dirty="0"/>
                    </a:p>
                  </a:txBody>
                  <a:tcPr/>
                </a:tc>
                <a:tc>
                  <a:txBody>
                    <a:bodyPr/>
                    <a:lstStyle/>
                    <a:p>
                      <a:r>
                        <a:rPr lang="it-IT" sz="1100" dirty="0"/>
                        <a:t>Semi Yulianto, Gerard Nathaniel Cac Ngo</a:t>
                      </a:r>
                      <a:endParaRPr lang="en-IN" sz="1100" dirty="0"/>
                    </a:p>
                  </a:txBody>
                  <a:tcPr/>
                </a:tc>
                <a:tc>
                  <a:txBody>
                    <a:bodyPr/>
                    <a:lstStyle/>
                    <a:p>
                      <a:r>
                        <a:rPr lang="en-US" sz="1100" dirty="0"/>
                        <a:t>Introduction and evaluation of TIRA, a system designed for automated threat detection, log analysis, threat hunting, and threat actor profiling, optimized for low-computational environments.</a:t>
                      </a:r>
                      <a:endParaRPr lang="en-IN" sz="1100" dirty="0"/>
                    </a:p>
                  </a:txBody>
                  <a:tcPr/>
                </a:tc>
                <a:tc>
                  <a:txBody>
                    <a:bodyPr/>
                    <a:lstStyle/>
                    <a:p>
                      <a:r>
                        <a:rPr lang="en-US" sz="1100" dirty="0"/>
                        <a:t>Introduces a unified framework that speeds log analysis by 95.83%, provides automated threat classification and reporting, and remains accessible for low-resource organizations.</a:t>
                      </a:r>
                      <a:endParaRPr lang="en-IN" sz="1100" dirty="0"/>
                    </a:p>
                  </a:txBody>
                  <a:tcPr/>
                </a:tc>
                <a:tc>
                  <a:txBody>
                    <a:bodyPr/>
                    <a:lstStyle/>
                    <a:p>
                      <a:r>
                        <a:rPr lang="en-US" sz="1100" dirty="0"/>
                        <a:t>Python based threat detection with OWASP–MITRE integration.</a:t>
                      </a:r>
                    </a:p>
                  </a:txBody>
                  <a:tcPr/>
                </a:tc>
                <a:extLst>
                  <a:ext uri="{0D108BD9-81ED-4DB2-BD59-A6C34878D82A}">
                    <a16:rowId xmlns:a16="http://schemas.microsoft.com/office/drawing/2014/main" val="3832956223"/>
                  </a:ext>
                </a:extLst>
              </a:tr>
              <a:tr h="1262946">
                <a:tc>
                  <a:txBody>
                    <a:bodyPr/>
                    <a:lstStyle/>
                    <a:p>
                      <a:r>
                        <a:rPr lang="en-US" sz="1100" dirty="0"/>
                        <a:t>A Systematic Analysis of Enhancing Cyber Security Using Deep Learning for Cyber Physical Systems</a:t>
                      </a:r>
                      <a:endParaRPr lang="en-IN" sz="1100" dirty="0"/>
                    </a:p>
                  </a:txBody>
                  <a:tcPr/>
                </a:tc>
                <a:tc>
                  <a:txBody>
                    <a:bodyPr/>
                    <a:lstStyle/>
                    <a:p>
                      <a:r>
                        <a:rPr lang="en-IN" sz="1100"/>
                        <a:t>Shivani Gaba, Ishan Budhiraja, Vimal Kumar, Sheshikala Martha, Jebreel Khurmi, Akansha Singh, Krishna Kant Singh, S. S. Askar, Mohamed Abouhawwash</a:t>
                      </a:r>
                    </a:p>
                  </a:txBody>
                  <a:tcPr/>
                </a:tc>
                <a:tc>
                  <a:txBody>
                    <a:bodyPr/>
                    <a:lstStyle/>
                    <a:p>
                      <a:r>
                        <a:rPr lang="en-US" sz="1100" dirty="0"/>
                        <a:t>Deep learning-based cyberattack detection in Cyber-Physical Systems (CPS).</a:t>
                      </a:r>
                      <a:endParaRPr lang="en-IN" sz="1100" dirty="0"/>
                    </a:p>
                  </a:txBody>
                  <a:tcPr/>
                </a:tc>
                <a:tc>
                  <a:txBody>
                    <a:bodyPr/>
                    <a:lstStyle/>
                    <a:p>
                      <a:r>
                        <a:rPr lang="en-US" sz="1100" dirty="0"/>
                        <a:t>Analyzes various deep learning methods for detecting cyberattacks in CPS and discusses datasets used for training these models.</a:t>
                      </a:r>
                      <a:endParaRPr lang="en-IN" sz="1100" dirty="0"/>
                    </a:p>
                  </a:txBody>
                  <a:tcPr/>
                </a:tc>
                <a:tc>
                  <a:txBody>
                    <a:bodyPr/>
                    <a:lstStyle/>
                    <a:p>
                      <a:r>
                        <a:rPr lang="en-US" sz="1100"/>
                        <a:t>Deep Learning (CNN, RNN, Autoencoders) for intrusion detection</a:t>
                      </a:r>
                      <a:endParaRPr lang="en-IN" sz="1100"/>
                    </a:p>
                  </a:txBody>
                  <a:tcPr/>
                </a:tc>
                <a:extLst>
                  <a:ext uri="{0D108BD9-81ED-4DB2-BD59-A6C34878D82A}">
                    <a16:rowId xmlns:a16="http://schemas.microsoft.com/office/drawing/2014/main" val="2912877235"/>
                  </a:ext>
                </a:extLst>
              </a:tr>
              <a:tr h="1262946">
                <a:tc>
                  <a:txBody>
                    <a:bodyPr/>
                    <a:lstStyle/>
                    <a:p>
                      <a:r>
                        <a:rPr lang="en-US" sz="1100"/>
                        <a:t>An Effective Classification of DDoS Attacks in a Distributed Network by Adopting Hierarchical Machine Learning and Hyperparameters Optimization Techniques</a:t>
                      </a:r>
                      <a:endParaRPr lang="en-IN" sz="1100"/>
                    </a:p>
                  </a:txBody>
                  <a:tcPr/>
                </a:tc>
                <a:tc>
                  <a:txBody>
                    <a:bodyPr/>
                    <a:lstStyle/>
                    <a:p>
                      <a:r>
                        <a:rPr lang="en-IN" sz="1100" dirty="0"/>
                        <a:t>Sandeep Dasari, Rajesh </a:t>
                      </a:r>
                      <a:r>
                        <a:rPr lang="en-IN" sz="1100" dirty="0" err="1"/>
                        <a:t>Kaluri</a:t>
                      </a:r>
                      <a:endParaRPr lang="en-IN" sz="1100" dirty="0"/>
                    </a:p>
                  </a:txBody>
                  <a:tcPr/>
                </a:tc>
                <a:tc>
                  <a:txBody>
                    <a:bodyPr/>
                    <a:lstStyle/>
                    <a:p>
                      <a:r>
                        <a:rPr lang="en-US" sz="1100" dirty="0"/>
                        <a:t>DDoS attack classification using hierarchical machine learning.</a:t>
                      </a:r>
                      <a:endParaRPr lang="en-IN" sz="1100" dirty="0"/>
                    </a:p>
                  </a:txBody>
                  <a:tcPr/>
                </a:tc>
                <a:tc>
                  <a:txBody>
                    <a:bodyPr/>
                    <a:lstStyle/>
                    <a:p>
                      <a:r>
                        <a:rPr lang="en-US" sz="1100" dirty="0"/>
                        <a:t>Uses a hierarchical ML-based approach with hyperparameter tuning, achieving 99.77% accuracy in detecting DDoS attacks.</a:t>
                      </a:r>
                      <a:endParaRPr lang="en-IN" sz="1100" dirty="0"/>
                    </a:p>
                  </a:txBody>
                  <a:tcPr/>
                </a:tc>
                <a:tc>
                  <a:txBody>
                    <a:bodyPr/>
                    <a:lstStyle/>
                    <a:p>
                      <a:r>
                        <a:rPr lang="en-US" sz="1100" dirty="0"/>
                        <a:t>Machine Learning (</a:t>
                      </a:r>
                      <a:r>
                        <a:rPr lang="en-US" sz="1100" dirty="0" err="1"/>
                        <a:t>XGBoost</a:t>
                      </a:r>
                      <a:r>
                        <a:rPr lang="en-US" sz="1100" dirty="0"/>
                        <a:t>, LGBM, </a:t>
                      </a:r>
                      <a:r>
                        <a:rPr lang="en-US" sz="1100" dirty="0" err="1"/>
                        <a:t>CatBoost</a:t>
                      </a:r>
                      <a:r>
                        <a:rPr lang="en-US" sz="1100" dirty="0"/>
                        <a:t>, Random Forest, Decision Tree)</a:t>
                      </a:r>
                      <a:endParaRPr lang="en-IN" sz="1100" dirty="0"/>
                    </a:p>
                  </a:txBody>
                  <a:tcPr/>
                </a:tc>
                <a:extLst>
                  <a:ext uri="{0D108BD9-81ED-4DB2-BD59-A6C34878D82A}">
                    <a16:rowId xmlns:a16="http://schemas.microsoft.com/office/drawing/2014/main" val="2118509647"/>
                  </a:ext>
                </a:extLst>
              </a:tr>
              <a:tr h="928189">
                <a:tc>
                  <a:txBody>
                    <a:bodyPr/>
                    <a:lstStyle/>
                    <a:p>
                      <a:r>
                        <a:rPr lang="en-US" sz="1100"/>
                        <a:t>An Explainable and Resilient Intrusion Detection System for Industry 5.0</a:t>
                      </a:r>
                      <a:endParaRPr lang="en-IN" sz="1100"/>
                    </a:p>
                  </a:txBody>
                  <a:tcPr/>
                </a:tc>
                <a:tc>
                  <a:txBody>
                    <a:bodyPr/>
                    <a:lstStyle/>
                    <a:p>
                      <a:r>
                        <a:rPr lang="en-IN" sz="1100"/>
                        <a:t>Danish Javeed, Tianhan Gao, Prabhat Kumar, Alireza Jolfaei</a:t>
                      </a:r>
                    </a:p>
                  </a:txBody>
                  <a:tcPr/>
                </a:tc>
                <a:tc>
                  <a:txBody>
                    <a:bodyPr/>
                    <a:lstStyle/>
                    <a:p>
                      <a:r>
                        <a:rPr lang="en-US" sz="1100"/>
                        <a:t>Explainable AI for intrusion detection in Industry 5.0 environments.</a:t>
                      </a:r>
                      <a:endParaRPr lang="en-IN" sz="1100"/>
                    </a:p>
                  </a:txBody>
                  <a:tcPr/>
                </a:tc>
                <a:tc>
                  <a:txBody>
                    <a:bodyPr/>
                    <a:lstStyle/>
                    <a:p>
                      <a:r>
                        <a:rPr lang="en-US" sz="1100"/>
                        <a:t>Proposes an intrusion detection system (IDS) combining BiLSTM, Bi-GRU, and SHAP for model interpretability.</a:t>
                      </a:r>
                      <a:endParaRPr lang="en-IN" sz="1100"/>
                    </a:p>
                  </a:txBody>
                  <a:tcPr/>
                </a:tc>
                <a:tc>
                  <a:txBody>
                    <a:bodyPr/>
                    <a:lstStyle/>
                    <a:p>
                      <a:r>
                        <a:rPr lang="en-US" sz="1100" dirty="0"/>
                        <a:t>Deep Learning (</a:t>
                      </a:r>
                      <a:r>
                        <a:rPr lang="en-US" sz="1100" dirty="0" err="1"/>
                        <a:t>BiLSTM</a:t>
                      </a:r>
                      <a:r>
                        <a:rPr lang="en-US" sz="1100" dirty="0"/>
                        <a:t>, Bi-GRU) with Explainable AI (SHAP)</a:t>
                      </a:r>
                      <a:endParaRPr lang="en-IN" sz="1100" dirty="0"/>
                    </a:p>
                  </a:txBody>
                  <a:tcPr/>
                </a:tc>
                <a:extLst>
                  <a:ext uri="{0D108BD9-81ED-4DB2-BD59-A6C34878D82A}">
                    <a16:rowId xmlns:a16="http://schemas.microsoft.com/office/drawing/2014/main" val="66096694"/>
                  </a:ext>
                </a:extLst>
              </a:tr>
              <a:tr h="1095567">
                <a:tc>
                  <a:txBody>
                    <a:bodyPr/>
                    <a:lstStyle/>
                    <a:p>
                      <a:r>
                        <a:rPr lang="en-US" sz="1100"/>
                        <a:t>A Comprehensive Survey: Evaluating the Efficiency of Artificial Intelligence and Machine Learning Techniques on Cyber Security Solutions</a:t>
                      </a:r>
                      <a:endParaRPr lang="en-IN" sz="1100"/>
                    </a:p>
                  </a:txBody>
                  <a:tcPr/>
                </a:tc>
                <a:tc>
                  <a:txBody>
                    <a:bodyPr/>
                    <a:lstStyle/>
                    <a:p>
                      <a:r>
                        <a:rPr lang="en-IN" sz="1100"/>
                        <a:t>Merve Ozkan-Okay, Erdal Akin, Ömer Aslan, Selahattin Kosunalp, Teodor Iliev, Ivaylo Stoyanov, Ivan Beloev</a:t>
                      </a:r>
                    </a:p>
                  </a:txBody>
                  <a:tcPr/>
                </a:tc>
                <a:tc>
                  <a:txBody>
                    <a:bodyPr/>
                    <a:lstStyle/>
                    <a:p>
                      <a:r>
                        <a:rPr lang="en-US" sz="1100" dirty="0"/>
                        <a:t>Overview of AI and ML applications in cybersecurity, including intrusion detection, malware detection, and adversarial attacks.</a:t>
                      </a:r>
                      <a:endParaRPr lang="en-IN" sz="1100" dirty="0"/>
                    </a:p>
                  </a:txBody>
                  <a:tcPr/>
                </a:tc>
                <a:tc>
                  <a:txBody>
                    <a:bodyPr/>
                    <a:lstStyle/>
                    <a:p>
                      <a:r>
                        <a:rPr lang="en-US" sz="1100"/>
                        <a:t>Evaluates state-of-the-art ML, DL, and RL models in cybersecurity and discusses challenges such as adversarial robustness and data quality.</a:t>
                      </a:r>
                      <a:endParaRPr lang="en-IN" sz="1100"/>
                    </a:p>
                  </a:txBody>
                  <a:tcPr/>
                </a:tc>
                <a:tc>
                  <a:txBody>
                    <a:bodyPr/>
                    <a:lstStyle/>
                    <a:p>
                      <a:r>
                        <a:rPr lang="en-US" sz="1100" dirty="0"/>
                        <a:t>AI/ML (Deep Learning, Reinforcement Learning, ChatGPT for cybersecurity)</a:t>
                      </a:r>
                      <a:endParaRPr lang="en-IN" sz="1100" dirty="0"/>
                    </a:p>
                  </a:txBody>
                  <a:tcPr/>
                </a:tc>
                <a:extLst>
                  <a:ext uri="{0D108BD9-81ED-4DB2-BD59-A6C34878D82A}">
                    <a16:rowId xmlns:a16="http://schemas.microsoft.com/office/drawing/2014/main" val="2669328294"/>
                  </a:ext>
                </a:extLst>
              </a:tr>
            </a:tbl>
          </a:graphicData>
        </a:graphic>
      </p:graphicFrame>
    </p:spTree>
    <p:extLst>
      <p:ext uri="{BB962C8B-B14F-4D97-AF65-F5344CB8AC3E}">
        <p14:creationId xmlns:p14="http://schemas.microsoft.com/office/powerpoint/2010/main" val="3446310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D75B7-06E2-4ADE-84DD-F8445D878F78}"/>
              </a:ext>
            </a:extLst>
          </p:cNvPr>
          <p:cNvSpPr>
            <a:spLocks noGrp="1"/>
          </p:cNvSpPr>
          <p:nvPr>
            <p:ph type="title"/>
          </p:nvPr>
        </p:nvSpPr>
        <p:spPr/>
        <p:txBody>
          <a:bodyPr/>
          <a:lstStyle/>
          <a:p>
            <a:r>
              <a:rPr lang="en-US" b="1" dirty="0"/>
              <a:t>Objectives</a:t>
            </a:r>
            <a:endParaRPr lang="en-IN" b="1" dirty="0"/>
          </a:p>
        </p:txBody>
      </p:sp>
      <p:sp>
        <p:nvSpPr>
          <p:cNvPr id="3" name="Content Placeholder 2">
            <a:extLst>
              <a:ext uri="{FF2B5EF4-FFF2-40B4-BE49-F238E27FC236}">
                <a16:creationId xmlns:a16="http://schemas.microsoft.com/office/drawing/2014/main" id="{E25C8593-59C5-4932-9762-6C76BFB59AA9}"/>
              </a:ext>
            </a:extLst>
          </p:cNvPr>
          <p:cNvSpPr>
            <a:spLocks noGrp="1"/>
          </p:cNvSpPr>
          <p:nvPr>
            <p:ph idx="1"/>
          </p:nvPr>
        </p:nvSpPr>
        <p:spPr/>
        <p:txBody>
          <a:bodyPr>
            <a:normAutofit fontScale="92500" lnSpcReduction="10000"/>
          </a:bodyPr>
          <a:lstStyle/>
          <a:p>
            <a:r>
              <a:rPr lang="en-US" b="1" dirty="0"/>
              <a:t>Real-time packet capture and logging</a:t>
            </a:r>
            <a:r>
              <a:rPr lang="en-US" dirty="0"/>
              <a:t> — Continuously capture packets, extract flow features, and log detections and metadata to CSV for audit and analysis.</a:t>
            </a:r>
          </a:p>
          <a:p>
            <a:r>
              <a:rPr lang="en-US" b="1" dirty="0"/>
              <a:t>Hybrid detection engine</a:t>
            </a:r>
            <a:r>
              <a:rPr lang="en-US" dirty="0"/>
              <a:t> — Combine lightweight rule-based detection (SYN flood, ICMP flood, port-scan) with flow-level ML classification to identify malicious activity.</a:t>
            </a:r>
          </a:p>
          <a:p>
            <a:r>
              <a:rPr lang="en-US" b="1" dirty="0"/>
              <a:t>Attack event logging and timeline</a:t>
            </a:r>
            <a:r>
              <a:rPr lang="en-US" dirty="0"/>
              <a:t> — Persist canonical attack events with references to flows and evidence for triage and reproducibility.</a:t>
            </a:r>
          </a:p>
          <a:p>
            <a:r>
              <a:rPr lang="en-US" b="1" dirty="0"/>
              <a:t>OWASP-based taxonomy and enrichment</a:t>
            </a:r>
            <a:r>
              <a:rPr lang="en-US" dirty="0"/>
              <a:t> — Annotate detected events with OWASP Top-10 categories to standardize vulnerability/attack classification and support reporting.</a:t>
            </a:r>
          </a:p>
        </p:txBody>
      </p:sp>
      <p:sp>
        <p:nvSpPr>
          <p:cNvPr id="4" name="Date Placeholder 3">
            <a:extLst>
              <a:ext uri="{FF2B5EF4-FFF2-40B4-BE49-F238E27FC236}">
                <a16:creationId xmlns:a16="http://schemas.microsoft.com/office/drawing/2014/main" id="{92C30969-8715-48F2-9824-2C8A88A58D94}"/>
              </a:ext>
            </a:extLst>
          </p:cNvPr>
          <p:cNvSpPr>
            <a:spLocks noGrp="1"/>
          </p:cNvSpPr>
          <p:nvPr>
            <p:ph type="dt" sz="half" idx="10"/>
          </p:nvPr>
        </p:nvSpPr>
        <p:spPr/>
        <p:txBody>
          <a:bodyPr/>
          <a:lstStyle/>
          <a:p>
            <a:fld id="{4ECECFE2-ECAE-4FC4-B521-1A78D74674B3}" type="datetime1">
              <a:rPr lang="en-IN" smtClean="0"/>
              <a:t>24-11-2025</a:t>
            </a:fld>
            <a:endParaRPr lang="en-IN"/>
          </a:p>
        </p:txBody>
      </p:sp>
      <p:sp>
        <p:nvSpPr>
          <p:cNvPr id="5" name="Footer Placeholder 4">
            <a:extLst>
              <a:ext uri="{FF2B5EF4-FFF2-40B4-BE49-F238E27FC236}">
                <a16:creationId xmlns:a16="http://schemas.microsoft.com/office/drawing/2014/main" id="{AD3BF2EF-BF66-47CA-BEA7-404241FE710D}"/>
              </a:ext>
            </a:extLst>
          </p:cNvPr>
          <p:cNvSpPr>
            <a:spLocks noGrp="1"/>
          </p:cNvSpPr>
          <p:nvPr>
            <p:ph type="ftr" sz="quarter" idx="11"/>
          </p:nvPr>
        </p:nvSpPr>
        <p:spPr/>
        <p:txBody>
          <a:bodyPr/>
          <a:lstStyle/>
          <a:p>
            <a:r>
              <a:rPr lang="en-US"/>
              <a:t>Dept. of CSE (Cyber Security) – Major Project Presentation</a:t>
            </a:r>
            <a:endParaRPr lang="en-IN"/>
          </a:p>
        </p:txBody>
      </p:sp>
      <p:sp>
        <p:nvSpPr>
          <p:cNvPr id="6" name="Slide Number Placeholder 5">
            <a:extLst>
              <a:ext uri="{FF2B5EF4-FFF2-40B4-BE49-F238E27FC236}">
                <a16:creationId xmlns:a16="http://schemas.microsoft.com/office/drawing/2014/main" id="{63111BA6-72DE-42AE-A670-F44FCA3E9831}"/>
              </a:ext>
            </a:extLst>
          </p:cNvPr>
          <p:cNvSpPr>
            <a:spLocks noGrp="1"/>
          </p:cNvSpPr>
          <p:nvPr>
            <p:ph type="sldNum" sz="quarter" idx="12"/>
          </p:nvPr>
        </p:nvSpPr>
        <p:spPr/>
        <p:txBody>
          <a:bodyPr/>
          <a:lstStyle/>
          <a:p>
            <a:fld id="{F4127232-B881-49D7-80AC-901D3A0353F5}" type="slidenum">
              <a:rPr lang="en-IN" smtClean="0"/>
              <a:t>7</a:t>
            </a:fld>
            <a:endParaRPr lang="en-IN"/>
          </a:p>
        </p:txBody>
      </p:sp>
    </p:spTree>
    <p:extLst>
      <p:ext uri="{BB962C8B-B14F-4D97-AF65-F5344CB8AC3E}">
        <p14:creationId xmlns:p14="http://schemas.microsoft.com/office/powerpoint/2010/main" val="1057588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1180C-0398-4063-9315-2F6417EFCF13}"/>
              </a:ext>
            </a:extLst>
          </p:cNvPr>
          <p:cNvSpPr>
            <a:spLocks noGrp="1"/>
          </p:cNvSpPr>
          <p:nvPr>
            <p:ph type="title"/>
          </p:nvPr>
        </p:nvSpPr>
        <p:spPr/>
        <p:txBody>
          <a:bodyPr/>
          <a:lstStyle/>
          <a:p>
            <a:r>
              <a:rPr lang="en-US" b="1" dirty="0"/>
              <a:t>Architecture Diagram</a:t>
            </a:r>
            <a:endParaRPr lang="en-IN" b="1" dirty="0"/>
          </a:p>
        </p:txBody>
      </p:sp>
      <p:sp>
        <p:nvSpPr>
          <p:cNvPr id="4" name="Date Placeholder 3">
            <a:extLst>
              <a:ext uri="{FF2B5EF4-FFF2-40B4-BE49-F238E27FC236}">
                <a16:creationId xmlns:a16="http://schemas.microsoft.com/office/drawing/2014/main" id="{244432FF-97D4-4392-9364-CDF170AD7383}"/>
              </a:ext>
            </a:extLst>
          </p:cNvPr>
          <p:cNvSpPr>
            <a:spLocks noGrp="1"/>
          </p:cNvSpPr>
          <p:nvPr>
            <p:ph type="dt" sz="half" idx="10"/>
          </p:nvPr>
        </p:nvSpPr>
        <p:spPr/>
        <p:txBody>
          <a:bodyPr/>
          <a:lstStyle/>
          <a:p>
            <a:fld id="{C9222C06-4AB3-4A5F-A720-A71CBD79259B}" type="datetime1">
              <a:rPr lang="en-IN" smtClean="0"/>
              <a:t>24-11-2025</a:t>
            </a:fld>
            <a:endParaRPr lang="en-IN"/>
          </a:p>
        </p:txBody>
      </p:sp>
      <p:sp>
        <p:nvSpPr>
          <p:cNvPr id="5" name="Footer Placeholder 4">
            <a:extLst>
              <a:ext uri="{FF2B5EF4-FFF2-40B4-BE49-F238E27FC236}">
                <a16:creationId xmlns:a16="http://schemas.microsoft.com/office/drawing/2014/main" id="{98F7C454-93F3-476C-8807-1AB62B892363}"/>
              </a:ext>
            </a:extLst>
          </p:cNvPr>
          <p:cNvSpPr>
            <a:spLocks noGrp="1"/>
          </p:cNvSpPr>
          <p:nvPr>
            <p:ph type="ftr" sz="quarter" idx="11"/>
          </p:nvPr>
        </p:nvSpPr>
        <p:spPr/>
        <p:txBody>
          <a:bodyPr/>
          <a:lstStyle/>
          <a:p>
            <a:r>
              <a:rPr lang="en-US"/>
              <a:t>Dept. of CSE (Cyber Security) – Major Project Presentation</a:t>
            </a:r>
            <a:endParaRPr lang="en-IN"/>
          </a:p>
        </p:txBody>
      </p:sp>
      <p:sp>
        <p:nvSpPr>
          <p:cNvPr id="6" name="Slide Number Placeholder 5">
            <a:extLst>
              <a:ext uri="{FF2B5EF4-FFF2-40B4-BE49-F238E27FC236}">
                <a16:creationId xmlns:a16="http://schemas.microsoft.com/office/drawing/2014/main" id="{9F75F9F0-5EFE-4EDF-BDD9-4E0FCFED77D9}"/>
              </a:ext>
            </a:extLst>
          </p:cNvPr>
          <p:cNvSpPr>
            <a:spLocks noGrp="1"/>
          </p:cNvSpPr>
          <p:nvPr>
            <p:ph type="sldNum" sz="quarter" idx="12"/>
          </p:nvPr>
        </p:nvSpPr>
        <p:spPr/>
        <p:txBody>
          <a:bodyPr/>
          <a:lstStyle/>
          <a:p>
            <a:fld id="{F4127232-B881-49D7-80AC-901D3A0353F5}" type="slidenum">
              <a:rPr lang="en-IN" smtClean="0"/>
              <a:t>8</a:t>
            </a:fld>
            <a:endParaRPr lang="en-IN"/>
          </a:p>
        </p:txBody>
      </p:sp>
      <p:pic>
        <p:nvPicPr>
          <p:cNvPr id="9" name="Content Placeholder 8">
            <a:extLst>
              <a:ext uri="{FF2B5EF4-FFF2-40B4-BE49-F238E27FC236}">
                <a16:creationId xmlns:a16="http://schemas.microsoft.com/office/drawing/2014/main" id="{A38AC61A-1CD6-524E-496C-42FB2080B4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94984" y="1316038"/>
            <a:ext cx="8529309" cy="4656137"/>
          </a:xfrm>
        </p:spPr>
      </p:pic>
    </p:spTree>
    <p:extLst>
      <p:ext uri="{BB962C8B-B14F-4D97-AF65-F5344CB8AC3E}">
        <p14:creationId xmlns:p14="http://schemas.microsoft.com/office/powerpoint/2010/main" val="2245991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2485A-0A1D-4DAD-9F7A-F4F777E74BE9}"/>
              </a:ext>
            </a:extLst>
          </p:cNvPr>
          <p:cNvSpPr>
            <a:spLocks noGrp="1"/>
          </p:cNvSpPr>
          <p:nvPr>
            <p:ph type="title"/>
          </p:nvPr>
        </p:nvSpPr>
        <p:spPr/>
        <p:txBody>
          <a:bodyPr/>
          <a:lstStyle/>
          <a:p>
            <a:r>
              <a:rPr lang="en-US" b="1" dirty="0"/>
              <a:t>Technologies / Languages Used</a:t>
            </a:r>
            <a:endParaRPr lang="en-IN" b="1" dirty="0"/>
          </a:p>
        </p:txBody>
      </p:sp>
      <p:sp>
        <p:nvSpPr>
          <p:cNvPr id="3" name="Content Placeholder 2">
            <a:extLst>
              <a:ext uri="{FF2B5EF4-FFF2-40B4-BE49-F238E27FC236}">
                <a16:creationId xmlns:a16="http://schemas.microsoft.com/office/drawing/2014/main" id="{B29B3FAC-1FB7-468B-9683-E18032D7C25F}"/>
              </a:ext>
            </a:extLst>
          </p:cNvPr>
          <p:cNvSpPr>
            <a:spLocks noGrp="1"/>
          </p:cNvSpPr>
          <p:nvPr>
            <p:ph idx="1"/>
          </p:nvPr>
        </p:nvSpPr>
        <p:spPr>
          <a:xfrm>
            <a:off x="1216114" y="1383566"/>
            <a:ext cx="10515600" cy="4657546"/>
          </a:xfrm>
        </p:spPr>
        <p:txBody>
          <a:bodyPr>
            <a:normAutofit lnSpcReduction="10000"/>
          </a:bodyPr>
          <a:lstStyle/>
          <a:p>
            <a:r>
              <a:rPr lang="en-US" b="1" dirty="0"/>
              <a:t>Python 3</a:t>
            </a:r>
            <a:r>
              <a:rPr lang="en-US" dirty="0"/>
              <a:t> — Core programming language used to build the packet sniffer, flow tracker, ML detection engine, and API client modules.</a:t>
            </a:r>
          </a:p>
          <a:p>
            <a:r>
              <a:rPr lang="en-US" b="1" dirty="0"/>
              <a:t>Scapy</a:t>
            </a:r>
            <a:r>
              <a:rPr lang="en-US" dirty="0"/>
              <a:t> — Python library for real-time packet capture, protocol parsing (TCP/UDP/ICMP), and low-level network inspection.</a:t>
            </a:r>
          </a:p>
          <a:p>
            <a:r>
              <a:rPr lang="en-US" b="1" dirty="0" err="1"/>
              <a:t>Joblib</a:t>
            </a:r>
            <a:r>
              <a:rPr lang="en-US" b="1" dirty="0"/>
              <a:t> &amp; NumPy</a:t>
            </a:r>
            <a:r>
              <a:rPr lang="en-US" dirty="0"/>
              <a:t> — Used to load the pre-trained ML model (CICIDS-based) and perform feature extraction, numeric computation, and flow-level analytics.</a:t>
            </a:r>
          </a:p>
          <a:p>
            <a:r>
              <a:rPr lang="en-US" b="1" dirty="0"/>
              <a:t>iptables (Linux firewall tool)</a:t>
            </a:r>
            <a:r>
              <a:rPr lang="en-US" dirty="0"/>
              <a:t> — Used for automated blocking and unblocking of suspicious IP addresses based on detection events.</a:t>
            </a:r>
            <a:endParaRPr lang="en-IN" dirty="0"/>
          </a:p>
        </p:txBody>
      </p:sp>
      <p:sp>
        <p:nvSpPr>
          <p:cNvPr id="4" name="Date Placeholder 3">
            <a:extLst>
              <a:ext uri="{FF2B5EF4-FFF2-40B4-BE49-F238E27FC236}">
                <a16:creationId xmlns:a16="http://schemas.microsoft.com/office/drawing/2014/main" id="{19B81CFB-8E3D-4828-82BD-37A5BCDAF669}"/>
              </a:ext>
            </a:extLst>
          </p:cNvPr>
          <p:cNvSpPr>
            <a:spLocks noGrp="1"/>
          </p:cNvSpPr>
          <p:nvPr>
            <p:ph type="dt" sz="half" idx="10"/>
          </p:nvPr>
        </p:nvSpPr>
        <p:spPr/>
        <p:txBody>
          <a:bodyPr/>
          <a:lstStyle/>
          <a:p>
            <a:fld id="{420F5EAD-545E-4D62-8A65-5C64A8B2E4A0}" type="datetime1">
              <a:rPr lang="en-IN" smtClean="0"/>
              <a:t>24-11-2025</a:t>
            </a:fld>
            <a:endParaRPr lang="en-IN"/>
          </a:p>
        </p:txBody>
      </p:sp>
      <p:sp>
        <p:nvSpPr>
          <p:cNvPr id="5" name="Footer Placeholder 4">
            <a:extLst>
              <a:ext uri="{FF2B5EF4-FFF2-40B4-BE49-F238E27FC236}">
                <a16:creationId xmlns:a16="http://schemas.microsoft.com/office/drawing/2014/main" id="{519BD3E2-4F85-428D-9856-00FD9013A934}"/>
              </a:ext>
            </a:extLst>
          </p:cNvPr>
          <p:cNvSpPr>
            <a:spLocks noGrp="1"/>
          </p:cNvSpPr>
          <p:nvPr>
            <p:ph type="ftr" sz="quarter" idx="11"/>
          </p:nvPr>
        </p:nvSpPr>
        <p:spPr/>
        <p:txBody>
          <a:bodyPr/>
          <a:lstStyle/>
          <a:p>
            <a:r>
              <a:rPr lang="en-US"/>
              <a:t>Dept. of CSE (Cyber Security) – Major Project Presentation</a:t>
            </a:r>
            <a:endParaRPr lang="en-IN"/>
          </a:p>
        </p:txBody>
      </p:sp>
      <p:sp>
        <p:nvSpPr>
          <p:cNvPr id="6" name="Slide Number Placeholder 5">
            <a:extLst>
              <a:ext uri="{FF2B5EF4-FFF2-40B4-BE49-F238E27FC236}">
                <a16:creationId xmlns:a16="http://schemas.microsoft.com/office/drawing/2014/main" id="{81F4F64C-1726-4379-938F-CFCF734A6622}"/>
              </a:ext>
            </a:extLst>
          </p:cNvPr>
          <p:cNvSpPr>
            <a:spLocks noGrp="1"/>
          </p:cNvSpPr>
          <p:nvPr>
            <p:ph type="sldNum" sz="quarter" idx="12"/>
          </p:nvPr>
        </p:nvSpPr>
        <p:spPr/>
        <p:txBody>
          <a:bodyPr/>
          <a:lstStyle/>
          <a:p>
            <a:fld id="{F4127232-B881-49D7-80AC-901D3A0353F5}" type="slidenum">
              <a:rPr lang="en-IN" smtClean="0"/>
              <a:t>9</a:t>
            </a:fld>
            <a:endParaRPr lang="en-IN"/>
          </a:p>
        </p:txBody>
      </p:sp>
    </p:spTree>
    <p:extLst>
      <p:ext uri="{BB962C8B-B14F-4D97-AF65-F5344CB8AC3E}">
        <p14:creationId xmlns:p14="http://schemas.microsoft.com/office/powerpoint/2010/main" val="236469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2485A-0A1D-4DAD-9F7A-F4F777E74BE9}"/>
              </a:ext>
            </a:extLst>
          </p:cNvPr>
          <p:cNvSpPr>
            <a:spLocks noGrp="1"/>
          </p:cNvSpPr>
          <p:nvPr>
            <p:ph type="title"/>
          </p:nvPr>
        </p:nvSpPr>
        <p:spPr/>
        <p:txBody>
          <a:bodyPr/>
          <a:lstStyle/>
          <a:p>
            <a:r>
              <a:rPr lang="en-US" b="1" dirty="0"/>
              <a:t>Implementation</a:t>
            </a:r>
            <a:endParaRPr lang="en-IN" b="1" dirty="0"/>
          </a:p>
        </p:txBody>
      </p:sp>
      <p:sp>
        <p:nvSpPr>
          <p:cNvPr id="3" name="Content Placeholder 2">
            <a:extLst>
              <a:ext uri="{FF2B5EF4-FFF2-40B4-BE49-F238E27FC236}">
                <a16:creationId xmlns:a16="http://schemas.microsoft.com/office/drawing/2014/main" id="{B29B3FAC-1FB7-468B-9683-E18032D7C25F}"/>
              </a:ext>
            </a:extLst>
          </p:cNvPr>
          <p:cNvSpPr>
            <a:spLocks noGrp="1"/>
          </p:cNvSpPr>
          <p:nvPr>
            <p:ph idx="1"/>
          </p:nvPr>
        </p:nvSpPr>
        <p:spPr/>
        <p:txBody>
          <a:bodyPr>
            <a:normAutofit lnSpcReduction="10000"/>
          </a:bodyPr>
          <a:lstStyle/>
          <a:p>
            <a:r>
              <a:rPr lang="en-US" b="1" dirty="0"/>
              <a:t>Packet Capture Module:</a:t>
            </a:r>
            <a:r>
              <a:rPr lang="en-US" dirty="0"/>
              <a:t> Uses Scapy to sniff live traffic from the network interface and extract packet metadata such as IPs, ports, protocols, flags, and payload size.</a:t>
            </a:r>
          </a:p>
          <a:p>
            <a:r>
              <a:rPr lang="en-US" b="1" dirty="0"/>
              <a:t>Rule-Based Detection Engine:</a:t>
            </a:r>
            <a:r>
              <a:rPr lang="en-US" dirty="0"/>
              <a:t> Detects SYN floods, ICMP floods, and port scans using threshold-based logic (e.g., SYN count &gt; 10 triggers blocking).</a:t>
            </a:r>
          </a:p>
          <a:p>
            <a:r>
              <a:rPr lang="en-US" b="1" dirty="0"/>
              <a:t>Machine Learning Detection Module:</a:t>
            </a:r>
            <a:r>
              <a:rPr lang="en-US" dirty="0"/>
              <a:t> Tracks packet flows, extracts statistical features, and uses a trained ML model to classify traffic as benign or malicious.</a:t>
            </a:r>
          </a:p>
          <a:p>
            <a:r>
              <a:rPr lang="en-US" b="1" dirty="0"/>
              <a:t>Threat Correlation Engine:</a:t>
            </a:r>
            <a:r>
              <a:rPr lang="en-US" dirty="0"/>
              <a:t> Maps detected attacks to OWASP Top-10 categories, providing contextual interpretation and remediation guidance.</a:t>
            </a:r>
          </a:p>
          <a:p>
            <a:endParaRPr lang="en-IN" dirty="0"/>
          </a:p>
        </p:txBody>
      </p:sp>
      <p:sp>
        <p:nvSpPr>
          <p:cNvPr id="4" name="Date Placeholder 3">
            <a:extLst>
              <a:ext uri="{FF2B5EF4-FFF2-40B4-BE49-F238E27FC236}">
                <a16:creationId xmlns:a16="http://schemas.microsoft.com/office/drawing/2014/main" id="{19B81CFB-8E3D-4828-82BD-37A5BCDAF669}"/>
              </a:ext>
            </a:extLst>
          </p:cNvPr>
          <p:cNvSpPr>
            <a:spLocks noGrp="1"/>
          </p:cNvSpPr>
          <p:nvPr>
            <p:ph type="dt" sz="half" idx="10"/>
          </p:nvPr>
        </p:nvSpPr>
        <p:spPr/>
        <p:txBody>
          <a:bodyPr/>
          <a:lstStyle/>
          <a:p>
            <a:fld id="{63386223-3390-4B5D-8398-BB65FAC7F692}" type="datetime1">
              <a:rPr lang="en-IN" smtClean="0"/>
              <a:t>24-11-2025</a:t>
            </a:fld>
            <a:endParaRPr lang="en-IN"/>
          </a:p>
        </p:txBody>
      </p:sp>
      <p:sp>
        <p:nvSpPr>
          <p:cNvPr id="5" name="Footer Placeholder 4">
            <a:extLst>
              <a:ext uri="{FF2B5EF4-FFF2-40B4-BE49-F238E27FC236}">
                <a16:creationId xmlns:a16="http://schemas.microsoft.com/office/drawing/2014/main" id="{519BD3E2-4F85-428D-9856-00FD9013A934}"/>
              </a:ext>
            </a:extLst>
          </p:cNvPr>
          <p:cNvSpPr>
            <a:spLocks noGrp="1"/>
          </p:cNvSpPr>
          <p:nvPr>
            <p:ph type="ftr" sz="quarter" idx="11"/>
          </p:nvPr>
        </p:nvSpPr>
        <p:spPr/>
        <p:txBody>
          <a:bodyPr/>
          <a:lstStyle/>
          <a:p>
            <a:r>
              <a:rPr lang="en-US"/>
              <a:t>Dept. of CSE (Cyber Security) – Major Project Presentation</a:t>
            </a:r>
            <a:endParaRPr lang="en-IN"/>
          </a:p>
        </p:txBody>
      </p:sp>
      <p:sp>
        <p:nvSpPr>
          <p:cNvPr id="6" name="Slide Number Placeholder 5">
            <a:extLst>
              <a:ext uri="{FF2B5EF4-FFF2-40B4-BE49-F238E27FC236}">
                <a16:creationId xmlns:a16="http://schemas.microsoft.com/office/drawing/2014/main" id="{81F4F64C-1726-4379-938F-CFCF734A6622}"/>
              </a:ext>
            </a:extLst>
          </p:cNvPr>
          <p:cNvSpPr>
            <a:spLocks noGrp="1"/>
          </p:cNvSpPr>
          <p:nvPr>
            <p:ph type="sldNum" sz="quarter" idx="12"/>
          </p:nvPr>
        </p:nvSpPr>
        <p:spPr/>
        <p:txBody>
          <a:bodyPr/>
          <a:lstStyle/>
          <a:p>
            <a:fld id="{F4127232-B881-49D7-80AC-901D3A0353F5}" type="slidenum">
              <a:rPr lang="en-IN" smtClean="0"/>
              <a:t>10</a:t>
            </a:fld>
            <a:endParaRPr lang="en-IN"/>
          </a:p>
        </p:txBody>
      </p:sp>
    </p:spTree>
    <p:extLst>
      <p:ext uri="{BB962C8B-B14F-4D97-AF65-F5344CB8AC3E}">
        <p14:creationId xmlns:p14="http://schemas.microsoft.com/office/powerpoint/2010/main" val="1668025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6A3FE-F701-46B6-B1D6-E19149C2D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5D2CC-2FDE-8CF2-C500-39CFE15936C1}"/>
              </a:ext>
            </a:extLst>
          </p:cNvPr>
          <p:cNvSpPr>
            <a:spLocks noGrp="1"/>
          </p:cNvSpPr>
          <p:nvPr>
            <p:ph type="title"/>
          </p:nvPr>
        </p:nvSpPr>
        <p:spPr/>
        <p:txBody>
          <a:bodyPr/>
          <a:lstStyle/>
          <a:p>
            <a:r>
              <a:rPr lang="en-US" b="1" dirty="0"/>
              <a:t>Implementation (</a:t>
            </a:r>
            <a:r>
              <a:rPr lang="en-US" b="1" dirty="0" err="1"/>
              <a:t>Contd</a:t>
            </a:r>
            <a:r>
              <a:rPr lang="en-US" b="1" dirty="0"/>
              <a:t>)</a:t>
            </a:r>
            <a:endParaRPr lang="en-IN" b="1" dirty="0"/>
          </a:p>
        </p:txBody>
      </p:sp>
      <p:sp>
        <p:nvSpPr>
          <p:cNvPr id="3" name="Content Placeholder 2">
            <a:extLst>
              <a:ext uri="{FF2B5EF4-FFF2-40B4-BE49-F238E27FC236}">
                <a16:creationId xmlns:a16="http://schemas.microsoft.com/office/drawing/2014/main" id="{DE6B5B8D-A88B-458C-FE09-825FE7D59932}"/>
              </a:ext>
            </a:extLst>
          </p:cNvPr>
          <p:cNvSpPr>
            <a:spLocks noGrp="1"/>
          </p:cNvSpPr>
          <p:nvPr>
            <p:ph idx="1"/>
          </p:nvPr>
        </p:nvSpPr>
        <p:spPr/>
        <p:txBody>
          <a:bodyPr>
            <a:normAutofit/>
          </a:bodyPr>
          <a:lstStyle/>
          <a:p>
            <a:r>
              <a:rPr lang="en-US" b="1" dirty="0"/>
              <a:t>Attack Chain Detection:</a:t>
            </a:r>
            <a:r>
              <a:rPr lang="en-US" dirty="0"/>
              <a:t> Links multiple events from the same attacker IP to identify multi-stage attacks (e.g., SYN Flood → Port Scan).</a:t>
            </a:r>
          </a:p>
          <a:p>
            <a:r>
              <a:rPr lang="en-US" b="1" dirty="0"/>
              <a:t>Blocking and Response Module:</a:t>
            </a:r>
            <a:r>
              <a:rPr lang="en-US" dirty="0"/>
              <a:t> Automatically blocks attacker IPs using firewall rules and unblocks them after the configured timeout.</a:t>
            </a:r>
          </a:p>
          <a:p>
            <a:r>
              <a:rPr lang="en-US" b="1" dirty="0"/>
              <a:t>GUI Dashboard:</a:t>
            </a:r>
            <a:r>
              <a:rPr lang="en-US" dirty="0"/>
              <a:t> Displays live detection events, blocked IPs, and flow stats for easy operator visibility.</a:t>
            </a:r>
            <a:endParaRPr lang="en-IN" dirty="0"/>
          </a:p>
        </p:txBody>
      </p:sp>
      <p:sp>
        <p:nvSpPr>
          <p:cNvPr id="4" name="Date Placeholder 3">
            <a:extLst>
              <a:ext uri="{FF2B5EF4-FFF2-40B4-BE49-F238E27FC236}">
                <a16:creationId xmlns:a16="http://schemas.microsoft.com/office/drawing/2014/main" id="{122986E4-D002-75DD-EE2B-0E5AFC11AB70}"/>
              </a:ext>
            </a:extLst>
          </p:cNvPr>
          <p:cNvSpPr>
            <a:spLocks noGrp="1"/>
          </p:cNvSpPr>
          <p:nvPr>
            <p:ph type="dt" sz="half" idx="10"/>
          </p:nvPr>
        </p:nvSpPr>
        <p:spPr/>
        <p:txBody>
          <a:bodyPr/>
          <a:lstStyle/>
          <a:p>
            <a:fld id="{63386223-3390-4B5D-8398-BB65FAC7F692}" type="datetime1">
              <a:rPr lang="en-IN" smtClean="0"/>
              <a:t>24-11-2025</a:t>
            </a:fld>
            <a:endParaRPr lang="en-IN"/>
          </a:p>
        </p:txBody>
      </p:sp>
      <p:sp>
        <p:nvSpPr>
          <p:cNvPr id="5" name="Footer Placeholder 4">
            <a:extLst>
              <a:ext uri="{FF2B5EF4-FFF2-40B4-BE49-F238E27FC236}">
                <a16:creationId xmlns:a16="http://schemas.microsoft.com/office/drawing/2014/main" id="{F26AAD8B-45B0-804C-C3B8-ACD7BAD4B9B5}"/>
              </a:ext>
            </a:extLst>
          </p:cNvPr>
          <p:cNvSpPr>
            <a:spLocks noGrp="1"/>
          </p:cNvSpPr>
          <p:nvPr>
            <p:ph type="ftr" sz="quarter" idx="11"/>
          </p:nvPr>
        </p:nvSpPr>
        <p:spPr/>
        <p:txBody>
          <a:bodyPr/>
          <a:lstStyle/>
          <a:p>
            <a:r>
              <a:rPr lang="en-US"/>
              <a:t>Dept. of CSE (Cyber Security) – Major Project Presentation</a:t>
            </a:r>
            <a:endParaRPr lang="en-IN"/>
          </a:p>
        </p:txBody>
      </p:sp>
      <p:sp>
        <p:nvSpPr>
          <p:cNvPr id="6" name="Slide Number Placeholder 5">
            <a:extLst>
              <a:ext uri="{FF2B5EF4-FFF2-40B4-BE49-F238E27FC236}">
                <a16:creationId xmlns:a16="http://schemas.microsoft.com/office/drawing/2014/main" id="{601089DC-50A8-1903-E132-0C788DA4E929}"/>
              </a:ext>
            </a:extLst>
          </p:cNvPr>
          <p:cNvSpPr>
            <a:spLocks noGrp="1"/>
          </p:cNvSpPr>
          <p:nvPr>
            <p:ph type="sldNum" sz="quarter" idx="12"/>
          </p:nvPr>
        </p:nvSpPr>
        <p:spPr/>
        <p:txBody>
          <a:bodyPr/>
          <a:lstStyle/>
          <a:p>
            <a:fld id="{F4127232-B881-49D7-80AC-901D3A0353F5}" type="slidenum">
              <a:rPr lang="en-IN" smtClean="0"/>
              <a:t>11</a:t>
            </a:fld>
            <a:endParaRPr lang="en-IN"/>
          </a:p>
        </p:txBody>
      </p:sp>
    </p:spTree>
    <p:extLst>
      <p:ext uri="{BB962C8B-B14F-4D97-AF65-F5344CB8AC3E}">
        <p14:creationId xmlns:p14="http://schemas.microsoft.com/office/powerpoint/2010/main" val="203450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5A9B3-92F8-85CE-C201-B2067A4DE951}"/>
              </a:ext>
            </a:extLst>
          </p:cNvPr>
          <p:cNvSpPr>
            <a:spLocks noGrp="1"/>
          </p:cNvSpPr>
          <p:nvPr>
            <p:ph type="title"/>
          </p:nvPr>
        </p:nvSpPr>
        <p:spPr>
          <a:xfrm>
            <a:off x="5376089" y="48479"/>
            <a:ext cx="2347869" cy="884972"/>
          </a:xfrm>
        </p:spPr>
        <p:txBody>
          <a:bodyPr>
            <a:normAutofit/>
          </a:bodyPr>
          <a:lstStyle/>
          <a:p>
            <a:r>
              <a:rPr lang="en-US" sz="3200" dirty="0"/>
              <a:t>Flowchart</a:t>
            </a:r>
            <a:endParaRPr lang="en-IN" sz="3200" dirty="0"/>
          </a:p>
        </p:txBody>
      </p:sp>
      <p:pic>
        <p:nvPicPr>
          <p:cNvPr id="8" name="Content Placeholder 7">
            <a:extLst>
              <a:ext uri="{FF2B5EF4-FFF2-40B4-BE49-F238E27FC236}">
                <a16:creationId xmlns:a16="http://schemas.microsoft.com/office/drawing/2014/main" id="{989C15B5-13D1-7759-F82F-7A2C7CC522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5370" y="933451"/>
            <a:ext cx="8529309" cy="4656137"/>
          </a:xfrm>
        </p:spPr>
      </p:pic>
      <p:sp>
        <p:nvSpPr>
          <p:cNvPr id="4" name="Date Placeholder 3">
            <a:extLst>
              <a:ext uri="{FF2B5EF4-FFF2-40B4-BE49-F238E27FC236}">
                <a16:creationId xmlns:a16="http://schemas.microsoft.com/office/drawing/2014/main" id="{38DF7EC9-31AE-67E1-B27A-FC92A04D8A00}"/>
              </a:ext>
            </a:extLst>
          </p:cNvPr>
          <p:cNvSpPr>
            <a:spLocks noGrp="1"/>
          </p:cNvSpPr>
          <p:nvPr>
            <p:ph type="dt" sz="half" idx="10"/>
          </p:nvPr>
        </p:nvSpPr>
        <p:spPr/>
        <p:txBody>
          <a:bodyPr/>
          <a:lstStyle/>
          <a:p>
            <a:fld id="{A4F96059-CB88-454C-9613-F70D3DEB29E8}" type="datetime1">
              <a:rPr lang="en-IN" smtClean="0"/>
              <a:t>24-11-2025</a:t>
            </a:fld>
            <a:endParaRPr lang="en-IN"/>
          </a:p>
        </p:txBody>
      </p:sp>
      <p:sp>
        <p:nvSpPr>
          <p:cNvPr id="5" name="Footer Placeholder 4">
            <a:extLst>
              <a:ext uri="{FF2B5EF4-FFF2-40B4-BE49-F238E27FC236}">
                <a16:creationId xmlns:a16="http://schemas.microsoft.com/office/drawing/2014/main" id="{1E78A48C-4C83-C043-1934-3DCDD7CE98D9}"/>
              </a:ext>
            </a:extLst>
          </p:cNvPr>
          <p:cNvSpPr>
            <a:spLocks noGrp="1"/>
          </p:cNvSpPr>
          <p:nvPr>
            <p:ph type="ftr" sz="quarter" idx="11"/>
          </p:nvPr>
        </p:nvSpPr>
        <p:spPr/>
        <p:txBody>
          <a:bodyPr/>
          <a:lstStyle/>
          <a:p>
            <a:r>
              <a:rPr lang="en-US"/>
              <a:t>Dept. of CSE (Cyber Security) – Major Project Presentation</a:t>
            </a:r>
            <a:endParaRPr lang="en-IN" dirty="0"/>
          </a:p>
        </p:txBody>
      </p:sp>
      <p:sp>
        <p:nvSpPr>
          <p:cNvPr id="6" name="Slide Number Placeholder 5">
            <a:extLst>
              <a:ext uri="{FF2B5EF4-FFF2-40B4-BE49-F238E27FC236}">
                <a16:creationId xmlns:a16="http://schemas.microsoft.com/office/drawing/2014/main" id="{7927695F-C757-EA56-1C57-23666B244C13}"/>
              </a:ext>
            </a:extLst>
          </p:cNvPr>
          <p:cNvSpPr>
            <a:spLocks noGrp="1"/>
          </p:cNvSpPr>
          <p:nvPr>
            <p:ph type="sldNum" sz="quarter" idx="12"/>
          </p:nvPr>
        </p:nvSpPr>
        <p:spPr/>
        <p:txBody>
          <a:bodyPr/>
          <a:lstStyle/>
          <a:p>
            <a:fld id="{F4127232-B881-49D7-80AC-901D3A0353F5}" type="slidenum">
              <a:rPr lang="en-IN" smtClean="0"/>
              <a:t>12</a:t>
            </a:fld>
            <a:endParaRPr lang="en-IN"/>
          </a:p>
        </p:txBody>
      </p:sp>
    </p:spTree>
    <p:extLst>
      <p:ext uri="{BB962C8B-B14F-4D97-AF65-F5344CB8AC3E}">
        <p14:creationId xmlns:p14="http://schemas.microsoft.com/office/powerpoint/2010/main" val="2131917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2485A-0A1D-4DAD-9F7A-F4F777E74BE9}"/>
              </a:ext>
            </a:extLst>
          </p:cNvPr>
          <p:cNvSpPr>
            <a:spLocks noGrp="1"/>
          </p:cNvSpPr>
          <p:nvPr>
            <p:ph type="title"/>
          </p:nvPr>
        </p:nvSpPr>
        <p:spPr/>
        <p:txBody>
          <a:bodyPr/>
          <a:lstStyle/>
          <a:p>
            <a:r>
              <a:rPr lang="en-US" b="1" dirty="0"/>
              <a:t>Results and Discussion</a:t>
            </a:r>
            <a:endParaRPr lang="en-IN" b="1" dirty="0"/>
          </a:p>
        </p:txBody>
      </p:sp>
      <p:pic>
        <p:nvPicPr>
          <p:cNvPr id="9" name="Content Placeholder 8">
            <a:extLst>
              <a:ext uri="{FF2B5EF4-FFF2-40B4-BE49-F238E27FC236}">
                <a16:creationId xmlns:a16="http://schemas.microsoft.com/office/drawing/2014/main" id="{00DC37BC-769F-A6B8-ABA1-4D93F4EA7C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6819" y="1112758"/>
            <a:ext cx="6100762" cy="4270534"/>
          </a:xfrm>
        </p:spPr>
      </p:pic>
      <p:sp>
        <p:nvSpPr>
          <p:cNvPr id="4" name="Date Placeholder 3">
            <a:extLst>
              <a:ext uri="{FF2B5EF4-FFF2-40B4-BE49-F238E27FC236}">
                <a16:creationId xmlns:a16="http://schemas.microsoft.com/office/drawing/2014/main" id="{19B81CFB-8E3D-4828-82BD-37A5BCDAF669}"/>
              </a:ext>
            </a:extLst>
          </p:cNvPr>
          <p:cNvSpPr>
            <a:spLocks noGrp="1"/>
          </p:cNvSpPr>
          <p:nvPr>
            <p:ph type="dt" sz="half" idx="10"/>
          </p:nvPr>
        </p:nvSpPr>
        <p:spPr/>
        <p:txBody>
          <a:bodyPr/>
          <a:lstStyle/>
          <a:p>
            <a:fld id="{8BDB070B-26C2-4257-A555-0E1C3B7C7FE5}" type="datetime1">
              <a:rPr lang="en-IN" smtClean="0"/>
              <a:t>24-11-2025</a:t>
            </a:fld>
            <a:endParaRPr lang="en-IN"/>
          </a:p>
        </p:txBody>
      </p:sp>
      <p:sp>
        <p:nvSpPr>
          <p:cNvPr id="5" name="Footer Placeholder 4">
            <a:extLst>
              <a:ext uri="{FF2B5EF4-FFF2-40B4-BE49-F238E27FC236}">
                <a16:creationId xmlns:a16="http://schemas.microsoft.com/office/drawing/2014/main" id="{519BD3E2-4F85-428D-9856-00FD9013A934}"/>
              </a:ext>
            </a:extLst>
          </p:cNvPr>
          <p:cNvSpPr>
            <a:spLocks noGrp="1"/>
          </p:cNvSpPr>
          <p:nvPr>
            <p:ph type="ftr" sz="quarter" idx="11"/>
          </p:nvPr>
        </p:nvSpPr>
        <p:spPr/>
        <p:txBody>
          <a:bodyPr/>
          <a:lstStyle/>
          <a:p>
            <a:r>
              <a:rPr lang="en-US"/>
              <a:t>Dept. of CSE (Cyber Security) – Major Project Presentation</a:t>
            </a:r>
            <a:endParaRPr lang="en-IN"/>
          </a:p>
        </p:txBody>
      </p:sp>
      <p:sp>
        <p:nvSpPr>
          <p:cNvPr id="6" name="Slide Number Placeholder 5">
            <a:extLst>
              <a:ext uri="{FF2B5EF4-FFF2-40B4-BE49-F238E27FC236}">
                <a16:creationId xmlns:a16="http://schemas.microsoft.com/office/drawing/2014/main" id="{81F4F64C-1726-4379-938F-CFCF734A6622}"/>
              </a:ext>
            </a:extLst>
          </p:cNvPr>
          <p:cNvSpPr>
            <a:spLocks noGrp="1"/>
          </p:cNvSpPr>
          <p:nvPr>
            <p:ph type="sldNum" sz="quarter" idx="12"/>
          </p:nvPr>
        </p:nvSpPr>
        <p:spPr/>
        <p:txBody>
          <a:bodyPr/>
          <a:lstStyle/>
          <a:p>
            <a:fld id="{F4127232-B881-49D7-80AC-901D3A0353F5}" type="slidenum">
              <a:rPr lang="en-IN" smtClean="0"/>
              <a:t>13</a:t>
            </a:fld>
            <a:endParaRPr lang="en-IN"/>
          </a:p>
        </p:txBody>
      </p:sp>
      <p:sp>
        <p:nvSpPr>
          <p:cNvPr id="11" name="TextBox 10">
            <a:extLst>
              <a:ext uri="{FF2B5EF4-FFF2-40B4-BE49-F238E27FC236}">
                <a16:creationId xmlns:a16="http://schemas.microsoft.com/office/drawing/2014/main" id="{831CC1F6-A22A-1177-2B36-B5F176EC1B30}"/>
              </a:ext>
            </a:extLst>
          </p:cNvPr>
          <p:cNvSpPr txBox="1"/>
          <p:nvPr/>
        </p:nvSpPr>
        <p:spPr>
          <a:xfrm>
            <a:off x="7402601" y="1074780"/>
            <a:ext cx="4627472" cy="3693319"/>
          </a:xfrm>
          <a:prstGeom prst="rect">
            <a:avLst/>
          </a:prstGeom>
          <a:noFill/>
        </p:spPr>
        <p:txBody>
          <a:bodyPr wrap="square">
            <a:spAutoFit/>
          </a:bodyPr>
          <a:lstStyle/>
          <a:p>
            <a:r>
              <a:rPr lang="en-US" dirty="0"/>
              <a:t>The screenshot shows a tool GUI detecting a </a:t>
            </a:r>
            <a:r>
              <a:rPr lang="en-US" b="1" dirty="0"/>
              <a:t>SYN flood DoS attack in real time</a:t>
            </a:r>
            <a:r>
              <a:rPr lang="en-US" dirty="0"/>
              <a:t>. As packets are analyzed, the system identifies repeated SYN requests from suspicious IP addresses with abnormal counts (e.g., SYN=10), flags them as </a:t>
            </a:r>
            <a:r>
              <a:rPr lang="en-US" b="1" dirty="0"/>
              <a:t>DoS/SYN Flood attacks</a:t>
            </a:r>
            <a:r>
              <a:rPr lang="en-US" dirty="0"/>
              <a:t>, and automatically </a:t>
            </a:r>
            <a:r>
              <a:rPr lang="en-US" b="1" dirty="0"/>
              <a:t>blocks the attacking IPs</a:t>
            </a:r>
            <a:r>
              <a:rPr lang="en-US" dirty="0"/>
              <a:t>. The console logs show detection alerts, attack classification (SYN Flood), and mitigation actions such as adding the attacker’s IP to the blocked list.</a:t>
            </a:r>
            <a:endParaRPr lang="en-IN" dirty="0"/>
          </a:p>
        </p:txBody>
      </p:sp>
    </p:spTree>
    <p:extLst>
      <p:ext uri="{BB962C8B-B14F-4D97-AF65-F5344CB8AC3E}">
        <p14:creationId xmlns:p14="http://schemas.microsoft.com/office/powerpoint/2010/main" val="22090186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98D37-3940-AE30-B236-D19C40F1EB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DE1977-D1F0-F87C-E660-A1222155A59B}"/>
              </a:ext>
            </a:extLst>
          </p:cNvPr>
          <p:cNvSpPr>
            <a:spLocks noGrp="1"/>
          </p:cNvSpPr>
          <p:nvPr>
            <p:ph type="title"/>
          </p:nvPr>
        </p:nvSpPr>
        <p:spPr/>
        <p:txBody>
          <a:bodyPr/>
          <a:lstStyle/>
          <a:p>
            <a:r>
              <a:rPr lang="en-US" b="1" dirty="0"/>
              <a:t>Results and Discussion (</a:t>
            </a:r>
            <a:r>
              <a:rPr lang="en-US" b="1" dirty="0" err="1"/>
              <a:t>Contd</a:t>
            </a:r>
            <a:r>
              <a:rPr lang="en-US" b="1" dirty="0"/>
              <a:t>)</a:t>
            </a:r>
            <a:endParaRPr lang="en-IN" b="1" dirty="0"/>
          </a:p>
        </p:txBody>
      </p:sp>
      <p:sp>
        <p:nvSpPr>
          <p:cNvPr id="4" name="Date Placeholder 3">
            <a:extLst>
              <a:ext uri="{FF2B5EF4-FFF2-40B4-BE49-F238E27FC236}">
                <a16:creationId xmlns:a16="http://schemas.microsoft.com/office/drawing/2014/main" id="{B4625BFC-FAA5-C89C-D977-D4849933EF82}"/>
              </a:ext>
            </a:extLst>
          </p:cNvPr>
          <p:cNvSpPr>
            <a:spLocks noGrp="1"/>
          </p:cNvSpPr>
          <p:nvPr>
            <p:ph type="dt" sz="half" idx="10"/>
          </p:nvPr>
        </p:nvSpPr>
        <p:spPr/>
        <p:txBody>
          <a:bodyPr/>
          <a:lstStyle/>
          <a:p>
            <a:fld id="{8BDB070B-26C2-4257-A555-0E1C3B7C7FE5}" type="datetime1">
              <a:rPr lang="en-IN" smtClean="0"/>
              <a:t>24-11-2025</a:t>
            </a:fld>
            <a:endParaRPr lang="en-IN"/>
          </a:p>
        </p:txBody>
      </p:sp>
      <p:sp>
        <p:nvSpPr>
          <p:cNvPr id="5" name="Footer Placeholder 4">
            <a:extLst>
              <a:ext uri="{FF2B5EF4-FFF2-40B4-BE49-F238E27FC236}">
                <a16:creationId xmlns:a16="http://schemas.microsoft.com/office/drawing/2014/main" id="{3CD0EA35-69E4-52C6-1976-FEF6891DDD96}"/>
              </a:ext>
            </a:extLst>
          </p:cNvPr>
          <p:cNvSpPr>
            <a:spLocks noGrp="1"/>
          </p:cNvSpPr>
          <p:nvPr>
            <p:ph type="ftr" sz="quarter" idx="11"/>
          </p:nvPr>
        </p:nvSpPr>
        <p:spPr/>
        <p:txBody>
          <a:bodyPr/>
          <a:lstStyle/>
          <a:p>
            <a:r>
              <a:rPr lang="en-US"/>
              <a:t>Dept. of CSE (Cyber Security) – Major Project Presentation</a:t>
            </a:r>
            <a:endParaRPr lang="en-IN"/>
          </a:p>
        </p:txBody>
      </p:sp>
      <p:sp>
        <p:nvSpPr>
          <p:cNvPr id="6" name="Slide Number Placeholder 5">
            <a:extLst>
              <a:ext uri="{FF2B5EF4-FFF2-40B4-BE49-F238E27FC236}">
                <a16:creationId xmlns:a16="http://schemas.microsoft.com/office/drawing/2014/main" id="{DC407BA3-F060-F10B-3923-C441F6F1B192}"/>
              </a:ext>
            </a:extLst>
          </p:cNvPr>
          <p:cNvSpPr>
            <a:spLocks noGrp="1"/>
          </p:cNvSpPr>
          <p:nvPr>
            <p:ph type="sldNum" sz="quarter" idx="12"/>
          </p:nvPr>
        </p:nvSpPr>
        <p:spPr/>
        <p:txBody>
          <a:bodyPr/>
          <a:lstStyle/>
          <a:p>
            <a:fld id="{F4127232-B881-49D7-80AC-901D3A0353F5}" type="slidenum">
              <a:rPr lang="en-IN" smtClean="0"/>
              <a:t>14</a:t>
            </a:fld>
            <a:endParaRPr lang="en-IN"/>
          </a:p>
        </p:txBody>
      </p:sp>
      <p:sp>
        <p:nvSpPr>
          <p:cNvPr id="7" name="Content Placeholder 6">
            <a:extLst>
              <a:ext uri="{FF2B5EF4-FFF2-40B4-BE49-F238E27FC236}">
                <a16:creationId xmlns:a16="http://schemas.microsoft.com/office/drawing/2014/main" id="{4FB6C2A3-5EC4-EEE7-4991-3E023E120F24}"/>
              </a:ext>
            </a:extLst>
          </p:cNvPr>
          <p:cNvSpPr>
            <a:spLocks noGrp="1"/>
          </p:cNvSpPr>
          <p:nvPr>
            <p:ph idx="1"/>
          </p:nvPr>
        </p:nvSpPr>
        <p:spPr/>
        <p:txBody>
          <a:bodyPr>
            <a:normAutofit lnSpcReduction="10000"/>
          </a:bodyPr>
          <a:lstStyle/>
          <a:p>
            <a:r>
              <a:rPr lang="en-US" dirty="0"/>
              <a:t>The system accurately detected attacks such as SYN floods, port scans, and DoS events in real time while automatically blocking malicious IPs and reducing manual effort.</a:t>
            </a:r>
          </a:p>
          <a:p>
            <a:r>
              <a:rPr lang="en-US" dirty="0"/>
              <a:t>The GUI and logs clearly presented threats, alerts, and attack chains, improving analyst visibility and response.</a:t>
            </a:r>
          </a:p>
          <a:p>
            <a:r>
              <a:rPr lang="en-US" dirty="0"/>
              <a:t>Automated detection significantly reduced analysis time from hours to minutes compared to manual investigation.</a:t>
            </a:r>
          </a:p>
          <a:p>
            <a:r>
              <a:rPr lang="en-US" dirty="0"/>
              <a:t>Deviations observed included occasional false positives and the need for improved phishing or social-engineering detection, guiding future work directions.</a:t>
            </a:r>
            <a:endParaRPr lang="en-IN" dirty="0"/>
          </a:p>
        </p:txBody>
      </p:sp>
    </p:spTree>
    <p:extLst>
      <p:ext uri="{BB962C8B-B14F-4D97-AF65-F5344CB8AC3E}">
        <p14:creationId xmlns:p14="http://schemas.microsoft.com/office/powerpoint/2010/main" val="3327034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3BE51-4EED-596F-F87D-1AABE20A5BF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5CF9595-52BD-DE9B-9FB5-CE70D6A7607F}"/>
              </a:ext>
            </a:extLst>
          </p:cNvPr>
          <p:cNvSpPr>
            <a:spLocks noGrp="1"/>
          </p:cNvSpPr>
          <p:nvPr>
            <p:ph type="dt" sz="half" idx="10"/>
          </p:nvPr>
        </p:nvSpPr>
        <p:spPr/>
        <p:txBody>
          <a:bodyPr/>
          <a:lstStyle/>
          <a:p>
            <a:fld id="{8BDB070B-26C2-4257-A555-0E1C3B7C7FE5}" type="datetime1">
              <a:rPr lang="en-IN" smtClean="0"/>
              <a:t>24-11-2025</a:t>
            </a:fld>
            <a:endParaRPr lang="en-IN"/>
          </a:p>
        </p:txBody>
      </p:sp>
      <p:sp>
        <p:nvSpPr>
          <p:cNvPr id="5" name="Footer Placeholder 4">
            <a:extLst>
              <a:ext uri="{FF2B5EF4-FFF2-40B4-BE49-F238E27FC236}">
                <a16:creationId xmlns:a16="http://schemas.microsoft.com/office/drawing/2014/main" id="{A6143663-A9AA-8E8E-0617-BEB7F1D3803E}"/>
              </a:ext>
            </a:extLst>
          </p:cNvPr>
          <p:cNvSpPr>
            <a:spLocks noGrp="1"/>
          </p:cNvSpPr>
          <p:nvPr>
            <p:ph type="ftr" sz="quarter" idx="11"/>
          </p:nvPr>
        </p:nvSpPr>
        <p:spPr/>
        <p:txBody>
          <a:bodyPr/>
          <a:lstStyle/>
          <a:p>
            <a:r>
              <a:rPr lang="en-US"/>
              <a:t>Dept. of CSE (Cyber Security) – Major Project Presentation</a:t>
            </a:r>
            <a:endParaRPr lang="en-IN"/>
          </a:p>
        </p:txBody>
      </p:sp>
      <p:sp>
        <p:nvSpPr>
          <p:cNvPr id="6" name="Slide Number Placeholder 5">
            <a:extLst>
              <a:ext uri="{FF2B5EF4-FFF2-40B4-BE49-F238E27FC236}">
                <a16:creationId xmlns:a16="http://schemas.microsoft.com/office/drawing/2014/main" id="{C2682B64-EFA7-DAFF-763A-EE340CF4D4C8}"/>
              </a:ext>
            </a:extLst>
          </p:cNvPr>
          <p:cNvSpPr>
            <a:spLocks noGrp="1"/>
          </p:cNvSpPr>
          <p:nvPr>
            <p:ph type="sldNum" sz="quarter" idx="12"/>
          </p:nvPr>
        </p:nvSpPr>
        <p:spPr/>
        <p:txBody>
          <a:bodyPr/>
          <a:lstStyle/>
          <a:p>
            <a:fld id="{F4127232-B881-49D7-80AC-901D3A0353F5}" type="slidenum">
              <a:rPr lang="en-IN" smtClean="0"/>
              <a:t>15</a:t>
            </a:fld>
            <a:endParaRPr lang="en-IN"/>
          </a:p>
        </p:txBody>
      </p:sp>
      <p:pic>
        <p:nvPicPr>
          <p:cNvPr id="4098" name="Picture 2">
            <a:extLst>
              <a:ext uri="{FF2B5EF4-FFF2-40B4-BE49-F238E27FC236}">
                <a16:creationId xmlns:a16="http://schemas.microsoft.com/office/drawing/2014/main" id="{796B27C4-B7AD-92C0-9446-00EC597F9FF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01839" y="1243409"/>
            <a:ext cx="4794161" cy="320913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098AC96-F14C-CBCA-6F57-854617C0A6DA}"/>
              </a:ext>
            </a:extLst>
          </p:cNvPr>
          <p:cNvSpPr txBox="1"/>
          <p:nvPr/>
        </p:nvSpPr>
        <p:spPr>
          <a:xfrm>
            <a:off x="6331744" y="1555312"/>
            <a:ext cx="5860256" cy="2585323"/>
          </a:xfrm>
          <a:prstGeom prst="rect">
            <a:avLst/>
          </a:prstGeom>
          <a:noFill/>
        </p:spPr>
        <p:txBody>
          <a:bodyPr wrap="square">
            <a:spAutoFit/>
          </a:bodyPr>
          <a:lstStyle/>
          <a:p>
            <a:r>
              <a:rPr lang="en-US" dirty="0"/>
              <a:t>The image shows the system detecting a SYN Flood attack and automatically correlating it with relevant OWASP Top 10 vulnerabilities. In this case, the attack is mapped to issues such as </a:t>
            </a:r>
            <a:r>
              <a:rPr lang="en-US" b="1" dirty="0"/>
              <a:t>Security Misconfiguration (A02:2025)</a:t>
            </a:r>
            <a:r>
              <a:rPr lang="en-US" dirty="0"/>
              <a:t> and </a:t>
            </a:r>
            <a:r>
              <a:rPr lang="en-US" b="1" dirty="0"/>
              <a:t>Insecure Design (A06:2025)</a:t>
            </a:r>
            <a:r>
              <a:rPr lang="en-US" dirty="0"/>
              <a:t>, helping analysts understand which weaknesses may have enabled the attack and providing direct links for remediation guidance.</a:t>
            </a:r>
            <a:endParaRPr lang="en-IN" dirty="0"/>
          </a:p>
        </p:txBody>
      </p:sp>
    </p:spTree>
    <p:extLst>
      <p:ext uri="{BB962C8B-B14F-4D97-AF65-F5344CB8AC3E}">
        <p14:creationId xmlns:p14="http://schemas.microsoft.com/office/powerpoint/2010/main" val="2253592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60D79FC8-080B-2763-605B-32172A9CF1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6820" y="773789"/>
            <a:ext cx="4706610" cy="4656137"/>
          </a:xfrm>
        </p:spPr>
      </p:pic>
      <p:sp>
        <p:nvSpPr>
          <p:cNvPr id="4" name="Date Placeholder 3">
            <a:extLst>
              <a:ext uri="{FF2B5EF4-FFF2-40B4-BE49-F238E27FC236}">
                <a16:creationId xmlns:a16="http://schemas.microsoft.com/office/drawing/2014/main" id="{6FAA0FCD-8154-53A5-AEC6-607558257BED}"/>
              </a:ext>
            </a:extLst>
          </p:cNvPr>
          <p:cNvSpPr>
            <a:spLocks noGrp="1"/>
          </p:cNvSpPr>
          <p:nvPr>
            <p:ph type="dt" sz="half" idx="10"/>
          </p:nvPr>
        </p:nvSpPr>
        <p:spPr/>
        <p:txBody>
          <a:bodyPr/>
          <a:lstStyle/>
          <a:p>
            <a:fld id="{A4F96059-CB88-454C-9613-F70D3DEB29E8}" type="datetime1">
              <a:rPr lang="en-IN" smtClean="0"/>
              <a:t>24-11-2025</a:t>
            </a:fld>
            <a:endParaRPr lang="en-IN"/>
          </a:p>
        </p:txBody>
      </p:sp>
      <p:sp>
        <p:nvSpPr>
          <p:cNvPr id="5" name="Footer Placeholder 4">
            <a:extLst>
              <a:ext uri="{FF2B5EF4-FFF2-40B4-BE49-F238E27FC236}">
                <a16:creationId xmlns:a16="http://schemas.microsoft.com/office/drawing/2014/main" id="{017096FD-B553-4429-93AB-B46D93653747}"/>
              </a:ext>
            </a:extLst>
          </p:cNvPr>
          <p:cNvSpPr>
            <a:spLocks noGrp="1"/>
          </p:cNvSpPr>
          <p:nvPr>
            <p:ph type="ftr" sz="quarter" idx="11"/>
          </p:nvPr>
        </p:nvSpPr>
        <p:spPr/>
        <p:txBody>
          <a:bodyPr/>
          <a:lstStyle/>
          <a:p>
            <a:r>
              <a:rPr lang="en-US"/>
              <a:t>Dept. of CSE (Cyber Security) – Major Project Presentation</a:t>
            </a:r>
            <a:endParaRPr lang="en-IN" dirty="0"/>
          </a:p>
        </p:txBody>
      </p:sp>
      <p:sp>
        <p:nvSpPr>
          <p:cNvPr id="6" name="Slide Number Placeholder 5">
            <a:extLst>
              <a:ext uri="{FF2B5EF4-FFF2-40B4-BE49-F238E27FC236}">
                <a16:creationId xmlns:a16="http://schemas.microsoft.com/office/drawing/2014/main" id="{DD81D6A8-3AE4-6D9A-A2B1-6CD0CAB1A6B7}"/>
              </a:ext>
            </a:extLst>
          </p:cNvPr>
          <p:cNvSpPr>
            <a:spLocks noGrp="1"/>
          </p:cNvSpPr>
          <p:nvPr>
            <p:ph type="sldNum" sz="quarter" idx="12"/>
          </p:nvPr>
        </p:nvSpPr>
        <p:spPr/>
        <p:txBody>
          <a:bodyPr/>
          <a:lstStyle/>
          <a:p>
            <a:fld id="{F4127232-B881-49D7-80AC-901D3A0353F5}" type="slidenum">
              <a:rPr lang="en-IN" smtClean="0"/>
              <a:t>16</a:t>
            </a:fld>
            <a:endParaRPr lang="en-IN"/>
          </a:p>
        </p:txBody>
      </p:sp>
      <p:pic>
        <p:nvPicPr>
          <p:cNvPr id="10" name="Picture 9">
            <a:extLst>
              <a:ext uri="{FF2B5EF4-FFF2-40B4-BE49-F238E27FC236}">
                <a16:creationId xmlns:a16="http://schemas.microsoft.com/office/drawing/2014/main" id="{85F494CA-0C28-0983-9FB1-44023D1EA1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9303" y="773789"/>
            <a:ext cx="6222697" cy="4656137"/>
          </a:xfrm>
          <a:prstGeom prst="rect">
            <a:avLst/>
          </a:prstGeom>
        </p:spPr>
      </p:pic>
    </p:spTree>
    <p:extLst>
      <p:ext uri="{BB962C8B-B14F-4D97-AF65-F5344CB8AC3E}">
        <p14:creationId xmlns:p14="http://schemas.microsoft.com/office/powerpoint/2010/main" val="751987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63F90-8FD5-44FB-A4A3-F14CE752D582}"/>
              </a:ext>
            </a:extLst>
          </p:cNvPr>
          <p:cNvSpPr>
            <a:spLocks noGrp="1"/>
          </p:cNvSpPr>
          <p:nvPr>
            <p:ph type="title"/>
          </p:nvPr>
        </p:nvSpPr>
        <p:spPr/>
        <p:txBody>
          <a:bodyPr/>
          <a:lstStyle/>
          <a:p>
            <a:r>
              <a:rPr lang="en-US" b="1" dirty="0"/>
              <a:t>Conclusion</a:t>
            </a:r>
            <a:endParaRPr lang="en-IN" b="1" dirty="0"/>
          </a:p>
        </p:txBody>
      </p:sp>
      <p:sp>
        <p:nvSpPr>
          <p:cNvPr id="3" name="Content Placeholder 2">
            <a:extLst>
              <a:ext uri="{FF2B5EF4-FFF2-40B4-BE49-F238E27FC236}">
                <a16:creationId xmlns:a16="http://schemas.microsoft.com/office/drawing/2014/main" id="{F7A2B3E3-3A81-45D0-A4B0-A7A544977691}"/>
              </a:ext>
            </a:extLst>
          </p:cNvPr>
          <p:cNvSpPr>
            <a:spLocks noGrp="1"/>
          </p:cNvSpPr>
          <p:nvPr>
            <p:ph idx="1"/>
          </p:nvPr>
        </p:nvSpPr>
        <p:spPr>
          <a:xfrm>
            <a:off x="1301839" y="1383566"/>
            <a:ext cx="10515600" cy="4657546"/>
          </a:xfrm>
        </p:spPr>
        <p:txBody>
          <a:bodyPr>
            <a:normAutofit lnSpcReduction="10000"/>
          </a:bodyPr>
          <a:lstStyle/>
          <a:p>
            <a:pPr marL="0" indent="0">
              <a:buNone/>
            </a:pPr>
            <a:r>
              <a:rPr lang="en-US" dirty="0"/>
              <a:t>Our project successfully delivers an automated, real-time threat hunting system capable of detecting network intrusions with high accuracy while minimizing manual effort. By combining rule-based detection, machine learning, and OWASP-integrated threat correlation, the system provides meaningful insights, fast response actions, and actionable reporting. The results demonstrate significant reductions in analysis time and improved visibility into attack behaviors, proving the solution’s effectiveness for organizations with limited cybersecurity resources. Overall, the project meets its objectives of enabling faster detection, stronger situational awareness, and more efficient security operations.</a:t>
            </a:r>
            <a:endParaRPr lang="en-IN" dirty="0"/>
          </a:p>
        </p:txBody>
      </p:sp>
      <p:sp>
        <p:nvSpPr>
          <p:cNvPr id="4" name="Date Placeholder 3">
            <a:extLst>
              <a:ext uri="{FF2B5EF4-FFF2-40B4-BE49-F238E27FC236}">
                <a16:creationId xmlns:a16="http://schemas.microsoft.com/office/drawing/2014/main" id="{15B63165-BFD8-4FA2-BBC0-D6250A2C6E4A}"/>
              </a:ext>
            </a:extLst>
          </p:cNvPr>
          <p:cNvSpPr>
            <a:spLocks noGrp="1"/>
          </p:cNvSpPr>
          <p:nvPr>
            <p:ph type="dt" sz="half" idx="10"/>
          </p:nvPr>
        </p:nvSpPr>
        <p:spPr/>
        <p:txBody>
          <a:bodyPr/>
          <a:lstStyle/>
          <a:p>
            <a:fld id="{CF73624B-A564-4402-9D8D-6393B3C54E19}" type="datetime1">
              <a:rPr lang="en-IN" smtClean="0"/>
              <a:t>24-11-2025</a:t>
            </a:fld>
            <a:endParaRPr lang="en-IN"/>
          </a:p>
        </p:txBody>
      </p:sp>
      <p:sp>
        <p:nvSpPr>
          <p:cNvPr id="5" name="Footer Placeholder 4">
            <a:extLst>
              <a:ext uri="{FF2B5EF4-FFF2-40B4-BE49-F238E27FC236}">
                <a16:creationId xmlns:a16="http://schemas.microsoft.com/office/drawing/2014/main" id="{E8B1543B-3E05-4E0D-8869-53922B86D5AF}"/>
              </a:ext>
            </a:extLst>
          </p:cNvPr>
          <p:cNvSpPr>
            <a:spLocks noGrp="1"/>
          </p:cNvSpPr>
          <p:nvPr>
            <p:ph type="ftr" sz="quarter" idx="11"/>
          </p:nvPr>
        </p:nvSpPr>
        <p:spPr/>
        <p:txBody>
          <a:bodyPr/>
          <a:lstStyle/>
          <a:p>
            <a:r>
              <a:rPr lang="en-US"/>
              <a:t>Dept. of CSE (Cyber Security) – Major Project Presentation</a:t>
            </a:r>
            <a:endParaRPr lang="en-IN" dirty="0"/>
          </a:p>
        </p:txBody>
      </p:sp>
      <p:sp>
        <p:nvSpPr>
          <p:cNvPr id="6" name="Slide Number Placeholder 5">
            <a:extLst>
              <a:ext uri="{FF2B5EF4-FFF2-40B4-BE49-F238E27FC236}">
                <a16:creationId xmlns:a16="http://schemas.microsoft.com/office/drawing/2014/main" id="{C070717E-8552-4F97-BA77-90321ED734FE}"/>
              </a:ext>
            </a:extLst>
          </p:cNvPr>
          <p:cNvSpPr>
            <a:spLocks noGrp="1"/>
          </p:cNvSpPr>
          <p:nvPr>
            <p:ph type="sldNum" sz="quarter" idx="12"/>
          </p:nvPr>
        </p:nvSpPr>
        <p:spPr/>
        <p:txBody>
          <a:bodyPr/>
          <a:lstStyle/>
          <a:p>
            <a:fld id="{F4127232-B881-49D7-80AC-901D3A0353F5}" type="slidenum">
              <a:rPr lang="en-IN" smtClean="0"/>
              <a:t>17</a:t>
            </a:fld>
            <a:endParaRPr lang="en-IN"/>
          </a:p>
        </p:txBody>
      </p:sp>
    </p:spTree>
    <p:extLst>
      <p:ext uri="{BB962C8B-B14F-4D97-AF65-F5344CB8AC3E}">
        <p14:creationId xmlns:p14="http://schemas.microsoft.com/office/powerpoint/2010/main" val="318775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SE-CY">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TotalTime>
  <Words>1511</Words>
  <Application>Microsoft Office PowerPoint</Application>
  <PresentationFormat>Widescreen</PresentationFormat>
  <Paragraphs>135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Bookman Old Style</vt:lpstr>
      <vt:lpstr>Calibri</vt:lpstr>
      <vt:lpstr>Office Theme</vt:lpstr>
      <vt:lpstr>Adaptive Threat Hunting Packet Capture Framework For Enterprise Networks</vt:lpstr>
      <vt:lpstr>PowerPoint Presentation</vt:lpstr>
      <vt:lpstr>Agenda</vt:lpstr>
      <vt:lpstr>Problem Statement</vt:lpstr>
      <vt:lpstr>Literature Survey</vt:lpstr>
      <vt:lpstr>PowerPoint Presentation</vt:lpstr>
      <vt:lpstr>Objectives</vt:lpstr>
      <vt:lpstr>Architecture Diagram</vt:lpstr>
      <vt:lpstr>Technologies / Languages Used</vt:lpstr>
      <vt:lpstr>Implementation</vt:lpstr>
      <vt:lpstr>Implementation (Contd)</vt:lpstr>
      <vt:lpstr>Flowchart</vt:lpstr>
      <vt:lpstr>Results and Discussion</vt:lpstr>
      <vt:lpstr>Results and Discussion (Contd)</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SUPERADMIN_CSE-CY</dc:creator>
  <cp:lastModifiedBy>Vishruth Hullatti</cp:lastModifiedBy>
  <cp:revision>18</cp:revision>
  <dcterms:created xsi:type="dcterms:W3CDTF">2024-11-03T07:06:01Z</dcterms:created>
  <dcterms:modified xsi:type="dcterms:W3CDTF">2025-11-24T05:48:39Z</dcterms:modified>
</cp:coreProperties>
</file>